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맑은 고딕"/>
              </a:rPr>
              <a:t>harbor.school × 박인수 | 5주차 통합 기획안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0" b="1" i="0">
                <a:solidFill>
                  <a:srgbClr val="0A0A0A"/>
                </a:solidFill>
                <a:latin typeface="Helvetica"/>
              </a:rPr>
              <a:t>PRIME.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0" y="4206240"/>
            <a:ext cx="2130552" cy="0"/>
          </a:xfrm>
          <a:prstGeom prst="line">
            <a:avLst/>
          </a:prstGeom>
          <a:ln w="1905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438912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 i="1">
                <a:solidFill>
                  <a:srgbClr val="6B6B6B"/>
                </a:solidFill>
                <a:latin typeface="맑은 고딕"/>
              </a:rPr>
              <a:t>Prime your day. — 나를 점화하다.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26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1F1F1F"/>
                </a:solidFill>
                <a:latin typeface="맑은 고딕"/>
              </a:rPr>
              <a:t>박인수 | mmake7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1F1F1F"/>
                </a:solidFill>
                <a:latin typeface="맑은 고딕"/>
              </a:rPr>
              <a:t>harbor.school 2기 주말반 — Week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126480"/>
            <a:ext cx="53309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000" b="0" i="0">
                <a:solidFill>
                  <a:srgbClr val="1F1F1F"/>
                </a:solidFill>
                <a:latin typeface="Helvetica"/>
              </a:rPr>
              <a:t>2026.04.27</a:t>
            </a:r>
          </a:p>
          <a:p>
            <a:pPr algn="r">
              <a:lnSpc>
                <a:spcPct val="140000"/>
              </a:lnSpc>
            </a:pPr>
            <a:r>
              <a:rPr sz="1000" b="0" i="0">
                <a:solidFill>
                  <a:srgbClr val="1F1F1F"/>
                </a:solidFill>
                <a:latin typeface="Helvetica"/>
              </a:rPr>
              <a:t>v1.0 — Planning Document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6B6B6B"/>
                </a:solidFill>
                <a:latin typeface="Helvetica"/>
              </a:rPr>
              <a:t>01 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>
                <a:solidFill>
                  <a:srgbClr val="0A0A0A"/>
                </a:solidFill>
                <a:latin typeface="맑은 고딕"/>
              </a:rPr>
              <a:t>5주차, 한 줄로 요약하면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508760"/>
            <a:ext cx="11274552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2286000"/>
            <a:ext cx="1090879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0A0A0A"/>
                </a:solidFill>
                <a:latin typeface="맑은 고딕"/>
              </a:rPr>
              <a:t>“혼자 만들던 데이터를,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1090879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0A0A0A"/>
                </a:solidFill>
                <a:latin typeface="맑은 고딕"/>
              </a:rPr>
              <a:t> 외부 세계에 연결하고, 나의 정체성으로 묶는다.”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4846320"/>
            <a:ext cx="1645920" cy="0"/>
          </a:xfrm>
          <a:prstGeom prst="line">
            <a:avLst/>
          </a:prstGeom>
          <a:ln w="1905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498348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F1F1F"/>
                </a:solidFill>
                <a:latin typeface="맑은 고딕"/>
              </a:rPr>
              <a:t>4주차 "혼자사는 삶"은 내가 만든 DB 안에서만 동작했다.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34924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F1F1F"/>
                </a:solidFill>
                <a:latin typeface="맑은 고딕"/>
              </a:rPr>
              <a:t>5주차 PRIME은 외부 서비스(MCP)와 연결되고, 사용자(Auth)별로 분리되며, 나(Context)를 알고 점화한다.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0A0A0A"/>
                </a:solidFill>
                <a:latin typeface="Helvetica"/>
              </a:rPr>
              <a:t>PRIME.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6B6B"/>
                </a:solidFill>
                <a:latin typeface="Helvetica"/>
              </a:rPr>
              <a:t>02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6B6B6B"/>
                </a:solidFill>
                <a:latin typeface="Helvetica"/>
              </a:rPr>
              <a:t>02 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>
                <a:solidFill>
                  <a:srgbClr val="0A0A0A"/>
                </a:solidFill>
                <a:latin typeface="맑은 고딕"/>
              </a:rPr>
              <a:t>PRIME — 다층적 의미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508760"/>
            <a:ext cx="11274552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2286000"/>
            <a:ext cx="50292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0" b="1" i="0">
                <a:solidFill>
                  <a:srgbClr val="0A0A0A"/>
                </a:solidFill>
                <a:latin typeface="Helvetica"/>
              </a:rPr>
              <a:t>PRIME.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976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6B6B6B"/>
                </a:solidFill>
                <a:latin typeface="Helvetica"/>
              </a:rPr>
              <a:t>/praɪm/ verb · noun · adjective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031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B0B0B0"/>
                </a:solidFill>
                <a:latin typeface="Helvetic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10312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A0A0A"/>
                </a:solidFill>
                <a:latin typeface="맑은 고딕"/>
              </a:rPr>
              <a:t>점화하다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2139696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6B6B6B"/>
                </a:solidFill>
                <a:latin typeface="Helvetica"/>
              </a:rPr>
              <a:t>Prime a pump.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468879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F1F1F"/>
                </a:solidFill>
                <a:latin typeface="맑은 고딕"/>
              </a:rPr>
              <a:t>AI 브리핑이 내 하루를 점화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816352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B0B0B0"/>
                </a:solidFill>
                <a:latin typeface="Helvetic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81635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A0A0A"/>
                </a:solidFill>
                <a:latin typeface="맑은 고딕"/>
              </a:rPr>
              <a:t>준비시키다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285292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6B6B6B"/>
                </a:solidFill>
                <a:latin typeface="Helvetica"/>
              </a:rPr>
              <a:t>Prime someone.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182112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F1F1F"/>
                </a:solidFill>
                <a:latin typeface="맑은 고딕"/>
              </a:rPr>
              <a:t>데이터를 활용 가능한 형태로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529584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B0B0B0"/>
                </a:solidFill>
                <a:latin typeface="Helvetic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529584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A0A0A"/>
                </a:solidFill>
                <a:latin typeface="맑은 고딕"/>
              </a:rPr>
              <a:t>본질·정수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35661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6B6B6B"/>
                </a:solidFill>
                <a:latin typeface="Helvetica"/>
              </a:rPr>
              <a:t>The prime essence.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895344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F1F1F"/>
                </a:solidFill>
                <a:latin typeface="맑은 고딕"/>
              </a:rPr>
              <a:t>흩어진 데이터에서 핵심 추출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242816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B0B0B0"/>
                </a:solidFill>
                <a:latin typeface="Helvetica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424281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A0A0A"/>
                </a:solidFill>
                <a:latin typeface="맑은 고딕"/>
              </a:rPr>
              <a:t>최고·우선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427939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6B6B6B"/>
                </a:solidFill>
                <a:latin typeface="Helvetica"/>
              </a:rPr>
              <a:t>Prime importance.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4608576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F1F1F"/>
                </a:solidFill>
                <a:latin typeface="맑은 고딕"/>
              </a:rPr>
              <a:t>나를 가장 우선순위로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956048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B0B0B0"/>
                </a:solidFill>
                <a:latin typeface="Helvetica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95604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A0A0A"/>
                </a:solidFill>
                <a:latin typeface="맑은 고딕"/>
              </a:rPr>
              <a:t>바탕칠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4992624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6B6B6B"/>
                </a:solidFill>
                <a:latin typeface="Helvetica"/>
              </a:rPr>
              <a:t>Primer paint.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532180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F1F1F"/>
                </a:solidFill>
                <a:latin typeface="맑은 고딕"/>
              </a:rPr>
              <a:t>다음 단계의 단단한 기반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0A0A0A"/>
                </a:solidFill>
                <a:latin typeface="Helvetica"/>
              </a:rPr>
              <a:t>PRIME.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6B6B"/>
                </a:solidFill>
                <a:latin typeface="Helvetica"/>
              </a:rPr>
              <a:t>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6B6B6B"/>
                </a:solidFill>
                <a:latin typeface="Helvetica"/>
              </a:rPr>
              <a:t>03 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>
                <a:solidFill>
                  <a:srgbClr val="0A0A0A"/>
                </a:solidFill>
                <a:latin typeface="맑은 고딕"/>
              </a:rPr>
              <a:t>4주차 → 5주차, 무엇이 바뀌나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508760"/>
            <a:ext cx="11274552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40080" y="2011680"/>
            <a:ext cx="4937760" cy="3931920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6B6B6B"/>
                </a:solidFill>
                <a:latin typeface="Helvetica"/>
              </a:rPr>
              <a:t>WEEK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A0A0A"/>
                </a:solidFill>
                <a:latin typeface="맑은 고딕"/>
              </a:rPr>
              <a:t>혼자사는 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F1F1F"/>
                </a:solidFill>
                <a:latin typeface="맑은 고딕"/>
              </a:rPr>
              <a:t>• 내가 만든 DB만 사용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947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F1F1F"/>
                </a:solidFill>
                <a:latin typeface="맑은 고딕"/>
              </a:rPr>
              <a:t>• 인증 없음 (누구나 접근)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F1F1F"/>
                </a:solidFill>
                <a:latin typeface="맑은 고딕"/>
              </a:rPr>
              <a:t>• AI는 내 데이터만 다룸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177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F1F1F"/>
                </a:solidFill>
                <a:latin typeface="맑은 고딕"/>
              </a:rPr>
              <a:t>• 7개 퀘스트 통합 플랫폼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292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F1F1F"/>
                </a:solidFill>
                <a:latin typeface="맑은 고딕"/>
              </a:rPr>
              <a:t>• 디자인: 모노톤 + 인주색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356616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4000" b="1" i="0">
                <a:solidFill>
                  <a:srgbClr val="0A0A0A"/>
                </a:solidFill>
                <a:latin typeface="Helvetica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2011680"/>
            <a:ext cx="4937760" cy="393192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B0B0B0"/>
                </a:solidFill>
                <a:latin typeface="Helvetica"/>
              </a:rPr>
              <a:t>WEEK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6060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Helvetica"/>
              </a:rPr>
              <a:t>PRIME.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3832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맑은 고딕"/>
              </a:rPr>
              <a:t>+ MCP — 외부 서비스 연결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7947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맑은 고딕"/>
              </a:rPr>
              <a:t>+ Auth — 사용자별 분리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42062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맑은 고딕"/>
              </a:rPr>
              <a:t>+ AI Context — 나의 정체성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46177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맑은 고딕"/>
              </a:rPr>
              <a:t>+ 8개 모듈 → 1개 대시보드 통합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50292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맑은 고딕"/>
              </a:rPr>
              <a:t>+ 디자인: 흑백 미니멀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0A0A0A"/>
                </a:solidFill>
                <a:latin typeface="Helvetica"/>
              </a:rPr>
              <a:t>PRIME.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6B6B"/>
                </a:solidFill>
                <a:latin typeface="Helvetica"/>
              </a:rPr>
              <a:t>04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6B6B6B"/>
                </a:solidFill>
                <a:latin typeface="Helvetica"/>
              </a:rPr>
              <a:t>04 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>
                <a:solidFill>
                  <a:srgbClr val="0A0A0A"/>
                </a:solidFill>
                <a:latin typeface="맑은 고딕"/>
              </a:rPr>
              <a:t>PRIME 8개 모듈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508760"/>
            <a:ext cx="11274552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40080" y="1783080"/>
            <a:ext cx="27432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965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6B6B6B"/>
                </a:solidFill>
                <a:latin typeface="Helvetica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965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6B6B"/>
                </a:solidFill>
                <a:latin typeface="Helvetica"/>
              </a:rPr>
              <a:t>MCP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4688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A0A0A"/>
                </a:solidFill>
                <a:latin typeface="Helvetica"/>
              </a:rPr>
              <a:t>PRIME /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834639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0A0A0A"/>
                </a:solidFill>
                <a:latin typeface="맑은 고딕"/>
              </a:rPr>
              <a:t>노션 비서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2461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6B6B6B"/>
                </a:solidFill>
                <a:latin typeface="맑은 고딕"/>
              </a:rPr>
              <a:t>내 기록을 점화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39" y="1783080"/>
            <a:ext cx="27432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1965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6B6B6B"/>
                </a:solidFill>
                <a:latin typeface="Helvetica"/>
              </a:rPr>
              <a:t>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59" y="1965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6B6B"/>
                </a:solidFill>
                <a:latin typeface="Helvetica"/>
              </a:rPr>
              <a:t>MCP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4688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A0A0A"/>
                </a:solidFill>
                <a:latin typeface="Helvetica"/>
              </a:rPr>
              <a:t>PRIME / Radar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834639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0A0A0A"/>
                </a:solidFill>
                <a:latin typeface="맑은 고딕"/>
              </a:rPr>
              <a:t>리서치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32461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6B6B6B"/>
                </a:solidFill>
                <a:latin typeface="맑은 고딕"/>
              </a:rPr>
              <a:t>관심사 레이더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783080"/>
            <a:ext cx="27432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965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6B6B6B"/>
                </a:solidFill>
                <a:latin typeface="Helvetica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1965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6B6B"/>
                </a:solidFill>
                <a:latin typeface="Helvetica"/>
              </a:rPr>
              <a:t>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4688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A0A0A"/>
                </a:solidFill>
                <a:latin typeface="Helvetica"/>
              </a:rPr>
              <a:t>PRIME / Spend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834639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0A0A0A"/>
                </a:solidFill>
                <a:latin typeface="맑은 고딕"/>
              </a:rPr>
              <a:t>가계부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2461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6B6B6B"/>
                </a:solidFill>
                <a:latin typeface="맑은 고딕"/>
              </a:rPr>
              <a:t>지출 추적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81159" y="1783080"/>
            <a:ext cx="27432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64039" y="1965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6B6B6B"/>
                </a:solidFill>
                <a:latin typeface="Helvetica"/>
              </a:rPr>
              <a:t>Q4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27080" y="1965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6B6B"/>
                </a:solidFill>
                <a:latin typeface="Helvetica"/>
              </a:rPr>
              <a:t>DB+AI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39" y="24688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A0A0A"/>
                </a:solidFill>
                <a:latin typeface="Helvetica"/>
              </a:rPr>
              <a:t>PRIME / Insight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39" y="2834639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0A0A0A"/>
                </a:solidFill>
                <a:latin typeface="맑은 고딕"/>
              </a:rPr>
              <a:t>가계부 분석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39" y="32461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6B6B6B"/>
                </a:solidFill>
                <a:latin typeface="맑은 고딕"/>
              </a:rPr>
              <a:t>패턴의 정수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931920"/>
            <a:ext cx="27432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59" y="4114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6B6B6B"/>
                </a:solidFill>
                <a:latin typeface="Helvetica"/>
              </a:rPr>
              <a:t>Q5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4114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6B6B"/>
                </a:solidFill>
                <a:latin typeface="Helvetica"/>
              </a:rPr>
              <a:t>Auth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59" y="46177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A0A0A"/>
                </a:solidFill>
                <a:latin typeface="Helvetica"/>
              </a:rPr>
              <a:t>PRIME / Circle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59" y="4983479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0A0A0A"/>
                </a:solidFill>
                <a:latin typeface="맑은 고딕"/>
              </a:rPr>
              <a:t>커뮤니티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59" y="53949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6B6B6B"/>
                </a:solidFill>
                <a:latin typeface="맑은 고딕"/>
              </a:rPr>
              <a:t>관계의 점화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39" y="3931920"/>
            <a:ext cx="27432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03320" y="4114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6B6B6B"/>
                </a:solidFill>
                <a:latin typeface="Helvetica"/>
              </a:rPr>
              <a:t>Q6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59" y="4114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6B6B"/>
                </a:solidFill>
                <a:latin typeface="Helvetica"/>
              </a:rPr>
              <a:t>Auth+DB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03320" y="46177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A0A0A"/>
                </a:solidFill>
                <a:latin typeface="Helvetica"/>
              </a:rPr>
              <a:t>PRIME / Taste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03320" y="4983479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0A0A0A"/>
                </a:solidFill>
                <a:latin typeface="맑은 고딕"/>
              </a:rPr>
              <a:t>쇼핑몰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03320" y="53949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6B6B6B"/>
                </a:solidFill>
                <a:latin typeface="맑은 고딕"/>
              </a:rPr>
              <a:t>취향의 본질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3931920"/>
            <a:ext cx="27432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0" y="4114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6B6B6B"/>
                </a:solidFill>
                <a:latin typeface="Helvetica"/>
              </a:rPr>
              <a:t>Q7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0" y="4114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6B6B"/>
                </a:solidFill>
                <a:latin typeface="Helvetica"/>
              </a:rPr>
              <a:t>Context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46177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A0A0A"/>
                </a:solidFill>
                <a:latin typeface="Helvetica"/>
              </a:rPr>
              <a:t>PRIME / Self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4983479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0A0A0A"/>
                </a:solidFill>
                <a:latin typeface="맑은 고딕"/>
              </a:rPr>
              <a:t>Context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53949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6B6B6B"/>
                </a:solidFill>
                <a:latin typeface="맑은 고딕"/>
              </a:rPr>
              <a:t>나의 정수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281159" y="3931920"/>
            <a:ext cx="2743200" cy="201168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64039" y="4114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B0B0B0"/>
                </a:solidFill>
                <a:latin typeface="Helvetica"/>
              </a:rPr>
              <a:t>Q8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27080" y="4114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B0B0B0"/>
                </a:solidFill>
                <a:latin typeface="Helvetica"/>
              </a:rPr>
              <a:t>ALL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64039" y="46177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Helvetica"/>
              </a:rPr>
              <a:t>PRIME / Day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64039" y="4983479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FFFFFF"/>
                </a:solidFill>
                <a:latin typeface="맑은 고딕"/>
              </a:rPr>
              <a:t>AI 대시보드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64039" y="53949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B0B0B0"/>
                </a:solidFill>
                <a:latin typeface="맑은 고딕"/>
              </a:rPr>
              <a:t>하루의 점화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0A0A0A"/>
                </a:solidFill>
                <a:latin typeface="Helvetica"/>
              </a:rPr>
              <a:t>PRIME.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6B6B"/>
                </a:solidFill>
                <a:latin typeface="Helvetica"/>
              </a:rPr>
              <a:t>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6B6B6B"/>
                </a:solidFill>
                <a:latin typeface="Helvetica"/>
              </a:rPr>
              <a:t>05  DEPENDENCY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>
                <a:solidFill>
                  <a:srgbClr val="0A0A0A"/>
                </a:solidFill>
                <a:latin typeface="맑은 고딕"/>
              </a:rPr>
              <a:t>모듈 간 의존성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508760"/>
            <a:ext cx="11274552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914400" y="1920240"/>
            <a:ext cx="1417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0A0A0A"/>
                </a:solidFill>
                <a:latin typeface="Helvetica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6B6B6B"/>
                </a:solidFill>
                <a:latin typeface="맑은 고딕"/>
              </a:rPr>
              <a:t>Notes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920240"/>
            <a:ext cx="1417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205740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0A0A0A"/>
                </a:solidFill>
                <a:latin typeface="Helvetica"/>
              </a:rPr>
              <a:t>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42316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6B6B6B"/>
                </a:solidFill>
                <a:latin typeface="맑은 고딕"/>
              </a:rPr>
              <a:t>Radar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1945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6B6B6B"/>
                </a:solidFill>
                <a:latin typeface="맑은 고딕"/>
              </a:rPr>
              <a:t>독립 (MCP)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383280"/>
            <a:ext cx="1417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2044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0A0A0A"/>
                </a:solidFill>
                <a:latin typeface="Helvetica"/>
              </a:rPr>
              <a:t>Q3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8620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6B6B6B"/>
                </a:solidFill>
                <a:latin typeface="맑은 고딕"/>
              </a:rPr>
              <a:t>Spend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3383280"/>
            <a:ext cx="1417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352044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0A0A0A"/>
                </a:solidFill>
                <a:latin typeface="Helvetica"/>
              </a:rPr>
              <a:t>Q4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88620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6B6B6B"/>
                </a:solidFill>
                <a:latin typeface="맑은 고딕"/>
              </a:rPr>
              <a:t>Insight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331720" y="3822191"/>
            <a:ext cx="411480" cy="0"/>
          </a:xfrm>
          <a:prstGeom prst="line">
            <a:avLst/>
          </a:prstGeom>
          <a:ln w="19050">
            <a:solidFill>
              <a:srgbClr val="0A0A0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029200" y="3383280"/>
            <a:ext cx="1417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352044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0A0A0A"/>
                </a:solidFill>
                <a:latin typeface="Helvetica"/>
              </a:rPr>
              <a:t>Q5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388620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6B6B6B"/>
                </a:solidFill>
                <a:latin typeface="맑은 고딕"/>
              </a:rPr>
              <a:t>Circle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3383280"/>
            <a:ext cx="1417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52044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0A0A0A"/>
                </a:solidFill>
                <a:latin typeface="Helvetica"/>
              </a:rPr>
              <a:t>Q6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88620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6B6B6B"/>
                </a:solidFill>
                <a:latin typeface="맑은 고딕"/>
              </a:rPr>
              <a:t>Taste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37760" y="3108960"/>
            <a:ext cx="3383280" cy="2286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37760" y="3127248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Helvetica"/>
              </a:rPr>
              <a:t>Auth Required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0" y="4846320"/>
            <a:ext cx="1417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0" y="498348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0A0A0A"/>
                </a:solidFill>
                <a:latin typeface="Helvetica"/>
              </a:rPr>
              <a:t>Q7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534924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6B6B6B"/>
                </a:solidFill>
                <a:latin typeface="맑은 고딕"/>
              </a:rPr>
              <a:t>Self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69680" y="2743200"/>
            <a:ext cx="2286000" cy="256032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9680" y="31089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B0B0B0"/>
                </a:solidFill>
                <a:latin typeface="Helvetica"/>
              </a:rPr>
              <a:t>Q8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36118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Helvetica"/>
              </a:rPr>
              <a:t>PRIME / Day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41148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맑은 고딕"/>
              </a:rPr>
              <a:t>AI 대시보드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45720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1">
                <a:solidFill>
                  <a:srgbClr val="B0B0B0"/>
                </a:solidFill>
                <a:latin typeface="맑은 고딕"/>
              </a:rPr>
              <a:t>★ 보스 퀘스트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331720" y="2331720"/>
            <a:ext cx="6537960" cy="1691640"/>
          </a:xfrm>
          <a:prstGeom prst="line">
            <a:avLst/>
          </a:prstGeom>
          <a:ln w="6350">
            <a:solidFill>
              <a:srgbClr val="B0B0B0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160520" y="2331720"/>
            <a:ext cx="4709160" cy="1691640"/>
          </a:xfrm>
          <a:prstGeom prst="line">
            <a:avLst/>
          </a:prstGeom>
          <a:ln w="6350">
            <a:solidFill>
              <a:srgbClr val="B0B0B0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160520" y="3822191"/>
            <a:ext cx="4709160" cy="201169"/>
          </a:xfrm>
          <a:prstGeom prst="line">
            <a:avLst/>
          </a:prstGeom>
          <a:ln w="6350">
            <a:solidFill>
              <a:srgbClr val="B0B0B0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446520" y="3822191"/>
            <a:ext cx="2423160" cy="201169"/>
          </a:xfrm>
          <a:prstGeom prst="line">
            <a:avLst/>
          </a:prstGeom>
          <a:ln w="6350">
            <a:solidFill>
              <a:srgbClr val="B0B0B0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275320" y="3822191"/>
            <a:ext cx="594360" cy="201169"/>
          </a:xfrm>
          <a:prstGeom prst="line">
            <a:avLst/>
          </a:prstGeom>
          <a:ln w="6350">
            <a:solidFill>
              <a:srgbClr val="B0B0B0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4160520" y="4023360"/>
            <a:ext cx="4709160" cy="1261872"/>
          </a:xfrm>
          <a:prstGeom prst="line">
            <a:avLst/>
          </a:prstGeom>
          <a:ln w="6350">
            <a:solidFill>
              <a:srgbClr val="B0B0B0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40080" y="59893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B6B6B"/>
                </a:solidFill>
                <a:latin typeface="맑은 고딕"/>
              </a:rPr>
              <a:t>→ 필수 선행    ⇢ 데이터 활용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0A0A0A"/>
                </a:solidFill>
                <a:latin typeface="Helvetica"/>
              </a:rPr>
              <a:t>PRIME.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6B6B"/>
                </a:solidFill>
                <a:latin typeface="Helvetica"/>
              </a:rPr>
              <a:t>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6B6B6B"/>
                </a:solidFill>
                <a:latin typeface="Helvetica"/>
              </a:rPr>
              <a:t>06  TECH GROUPS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>
                <a:solidFill>
                  <a:srgbClr val="0A0A0A"/>
                </a:solidFill>
                <a:latin typeface="맑은 고딕"/>
              </a:rPr>
              <a:t>기술별 4개 묶음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508760"/>
            <a:ext cx="11274552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40080" y="1828800"/>
            <a:ext cx="27432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2194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0" b="1" i="0">
                <a:solidFill>
                  <a:srgbClr val="0A0A0A"/>
                </a:solidFill>
                <a:latin typeface="Helvetica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A0A0A"/>
                </a:solidFill>
                <a:latin typeface="Helvetica"/>
              </a:rPr>
              <a:t>MCP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F1F1F"/>
                </a:solidFill>
                <a:latin typeface="맑은 고딕"/>
              </a:rPr>
              <a:t>외부 서비스 연결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14400" y="4434840"/>
            <a:ext cx="219456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14400" y="46177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B6B6B"/>
                </a:solidFill>
                <a:latin typeface="Helvetica"/>
              </a:rPr>
              <a:t>QUESTS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920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A0A0A"/>
                </a:solidFill>
                <a:latin typeface="Helvetica"/>
              </a:rPr>
              <a:t>Q1, 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B6B6B"/>
                </a:solidFill>
                <a:latin typeface="Helvetica"/>
              </a:rPr>
              <a:t>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235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F1F1F"/>
                </a:solidFill>
                <a:latin typeface="Helvetica"/>
              </a:rPr>
              <a:t>Notion / Chrome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20439" y="1828800"/>
            <a:ext cx="27432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94759" y="2103120"/>
            <a:ext cx="2194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0" b="1" i="0">
                <a:solidFill>
                  <a:srgbClr val="0A0A0A"/>
                </a:solidFill>
                <a:latin typeface="Helvetica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59" y="33832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A0A0A"/>
                </a:solidFill>
                <a:latin typeface="Helvetica"/>
              </a:rPr>
              <a:t>Server+DB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59" y="38404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F1F1F"/>
                </a:solidFill>
                <a:latin typeface="맑은 고딕"/>
              </a:rPr>
              <a:t>내 데이터 관리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794759" y="4434840"/>
            <a:ext cx="2194561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794759" y="46177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B6B6B"/>
                </a:solidFill>
                <a:latin typeface="Helvetica"/>
              </a:rPr>
              <a:t>QUESTS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59" y="48920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A0A0A"/>
                </a:solidFill>
                <a:latin typeface="Helvetica"/>
              </a:rPr>
              <a:t>Q3, Q4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59" y="53492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B6B6B"/>
                </a:solidFill>
                <a:latin typeface="Helvetica"/>
              </a:rPr>
              <a:t>STACK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59" y="56235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F1F1F"/>
                </a:solidFill>
                <a:latin typeface="Helvetica"/>
              </a:rPr>
              <a:t>pg + Supabase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1828800"/>
            <a:ext cx="27432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2103120"/>
            <a:ext cx="2194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0" b="1" i="0">
                <a:solidFill>
                  <a:srgbClr val="0A0A0A"/>
                </a:solidFill>
                <a:latin typeface="Helvetica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3832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A0A0A"/>
                </a:solidFill>
                <a:latin typeface="Helvetica"/>
              </a:rPr>
              <a:t>Auth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8404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F1F1F"/>
                </a:solidFill>
                <a:latin typeface="맑은 고딕"/>
              </a:rPr>
              <a:t>사용자 분리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675120" y="4434840"/>
            <a:ext cx="219456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675120" y="46177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B6B6B"/>
                </a:solidFill>
                <a:latin typeface="Helvetica"/>
              </a:rPr>
              <a:t>QUESTS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48920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A0A0A"/>
                </a:solidFill>
                <a:latin typeface="Helvetica"/>
              </a:rPr>
              <a:t>Q5, Q6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53492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B6B6B"/>
                </a:solidFill>
                <a:latin typeface="Helvetica"/>
              </a:rPr>
              <a:t>STACK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56235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F1F1F"/>
                </a:solidFill>
                <a:latin typeface="Helvetica"/>
              </a:rPr>
              <a:t>JWT + bcrypt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81159" y="1828800"/>
            <a:ext cx="27432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55480" y="2103120"/>
            <a:ext cx="2194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0" b="1" i="0">
                <a:solidFill>
                  <a:srgbClr val="0A0A0A"/>
                </a:solidFill>
                <a:latin typeface="Helvetica"/>
              </a:rPr>
              <a:t>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55480" y="33832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A0A0A"/>
                </a:solidFill>
                <a:latin typeface="Helvetica"/>
              </a:rPr>
              <a:t>Context+AI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55480" y="38404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F1F1F"/>
                </a:solidFill>
                <a:latin typeface="맑은 고딕"/>
              </a:rPr>
              <a:t>정체성 + 종합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555480" y="4434840"/>
            <a:ext cx="2194559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555480" y="46177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B6B6B"/>
                </a:solidFill>
                <a:latin typeface="Helvetica"/>
              </a:rPr>
              <a:t>QUESTS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55480" y="48920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A0A0A"/>
                </a:solidFill>
                <a:latin typeface="Helvetica"/>
              </a:rPr>
              <a:t>Q7, Q8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55480" y="53492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B6B6B"/>
                </a:solidFill>
                <a:latin typeface="Helvetica"/>
              </a:rPr>
              <a:t>STACK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55480" y="56235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F1F1F"/>
                </a:solidFill>
                <a:latin typeface="Helvetica"/>
              </a:rPr>
              <a:t>.md + Claude API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0A0A0A"/>
                </a:solidFill>
                <a:latin typeface="Helvetica"/>
              </a:rPr>
              <a:t>PRIME.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6B6B"/>
                </a:solidFill>
                <a:latin typeface="Helvetica"/>
              </a:rPr>
              <a:t>07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6B6B6B"/>
                </a:solidFill>
                <a:latin typeface="Helvetica"/>
              </a:rPr>
              <a:t>07  REUSE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>
                <a:solidFill>
                  <a:srgbClr val="0A0A0A"/>
                </a:solidFill>
                <a:latin typeface="맑은 고딕"/>
              </a:rPr>
              <a:t>4주차 자산 재활용 매핑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508760"/>
            <a:ext cx="11274552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6B6B6B"/>
                </a:solidFill>
                <a:latin typeface="맑은 고딕"/>
              </a:rPr>
              <a:t>처음부터 다시 만들지 않는다 — 4주차 코드와 디자인을 가져와서 진화시킨다.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11091672" cy="4572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048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4주차 자산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40487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Helvetica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24048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5주차 활용처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40487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절감 효과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743200"/>
            <a:ext cx="11091672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8346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0A0A0A"/>
                </a:solidFill>
                <a:latin typeface="맑은 고딕"/>
              </a:rPr>
              <a:t>board_* 테이블 + 게시글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8346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Helvetica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83464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F1F1F"/>
                </a:solidFill>
                <a:latin typeface="맑은 고딕"/>
              </a:rPr>
              <a:t>Q5 커뮤니티 (Auth 추가)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0A0A0A"/>
                </a:solidFill>
                <a:latin typeface="Helvetica"/>
              </a:rPr>
              <a:t>★★★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154680"/>
            <a:ext cx="11091672" cy="41148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2461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0A0A0A"/>
                </a:solidFill>
                <a:latin typeface="맑은 고딕"/>
              </a:rPr>
              <a:t>life_* 지출 카테고리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2461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Helvetica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324612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F1F1F"/>
                </a:solidFill>
                <a:latin typeface="맑은 고딕"/>
              </a:rPr>
              <a:t>Q3 가계부 (수입/메모 추가)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32461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0A0A0A"/>
                </a:solidFill>
                <a:latin typeface="Helvetica"/>
              </a:rPr>
              <a:t>★★★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566160"/>
            <a:ext cx="11091672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6576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0A0A0A"/>
                </a:solidFill>
                <a:latin typeface="맑은 고딕"/>
              </a:rPr>
              <a:t>Claude API 호출 패턴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6576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Helvetica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365760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F1F1F"/>
                </a:solidFill>
                <a:latin typeface="맑은 고딕"/>
              </a:rPr>
              <a:t>Q4 분석, Q7 Self, Q8 브리핑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6576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0A0A0A"/>
                </a:solidFill>
                <a:latin typeface="Helvetica"/>
              </a:rPr>
              <a:t>★★★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977639"/>
            <a:ext cx="11091672" cy="41148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069079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0A0A0A"/>
                </a:solidFill>
                <a:latin typeface="맑은 고딕"/>
              </a:rPr>
              <a:t>홈 랜딩 시간대별 카피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4069079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Helvetica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4069079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F1F1F"/>
                </a:solidFill>
                <a:latin typeface="맑은 고딕"/>
              </a:rPr>
              <a:t>Q8 대시보드 인사말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4069079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0A0A0A"/>
                </a:solidFill>
                <a:latin typeface="Helvetica"/>
              </a:rPr>
              <a:t>★★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389120"/>
            <a:ext cx="11091672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480559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0A0A0A"/>
                </a:solidFill>
                <a:latin typeface="맑은 고딕"/>
              </a:rPr>
              <a:t>디자인 시스템 (모노톤)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4480559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Helvetica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4480559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F1F1F"/>
                </a:solidFill>
                <a:latin typeface="맑은 고딕"/>
              </a:rPr>
              <a:t>5주차 전 페이지 베이스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4480559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0A0A0A"/>
                </a:solidFill>
                <a:latin typeface="Helvetica"/>
              </a:rPr>
              <a:t>★★★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4800600"/>
            <a:ext cx="11091672" cy="41148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48920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0A0A0A"/>
                </a:solidFill>
                <a:latin typeface="맑은 고딕"/>
              </a:rPr>
              <a:t>pg 직접 연결 패턴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48920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Helvetica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489204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F1F1F"/>
                </a:solidFill>
                <a:latin typeface="맑은 고딕"/>
              </a:rPr>
              <a:t>모든 DB 작업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0" y="48920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0A0A0A"/>
                </a:solidFill>
                <a:latin typeface="Helvetica"/>
              </a:rPr>
              <a:t>★★★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5212080"/>
            <a:ext cx="11091672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53035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0A0A0A"/>
                </a:solidFill>
                <a:latin typeface="맑은 고딕"/>
              </a:rPr>
              <a:t>RLS 보안 설정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0" y="5303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Helvetica"/>
              </a:rPr>
              <a:t>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0" y="530352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F1F1F"/>
                </a:solidFill>
                <a:latin typeface="맑은 고딕"/>
              </a:rPr>
              <a:t>기존 정책 그대로 유지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0" y="53035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0A0A0A"/>
                </a:solidFill>
                <a:latin typeface="Helvetica"/>
              </a:rPr>
              <a:t>★★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A0A0A"/>
                </a:solidFill>
                <a:latin typeface="맑은 고딕"/>
              </a:rPr>
              <a:t>결론 — 5주차 작업 시간의 50% 이상을 재활용으로 단축할 수 있다.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0A0A0A"/>
                </a:solidFill>
                <a:latin typeface="Helvetica"/>
              </a:rPr>
              <a:t>PRIME.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6B6B"/>
                </a:solidFill>
                <a:latin typeface="Helvetica"/>
              </a:rPr>
              <a:t>08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6B6B6B"/>
                </a:solidFill>
                <a:latin typeface="Helvetica"/>
              </a:rPr>
              <a:t>08 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>
                <a:solidFill>
                  <a:srgbClr val="0A0A0A"/>
                </a:solidFill>
                <a:latin typeface="맑은 고딕"/>
              </a:rPr>
              <a:t>시스템 구조도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508760"/>
            <a:ext cx="11274552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40080" y="2286000"/>
            <a:ext cx="25603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6B6B6B"/>
                </a:solidFill>
                <a:latin typeface="Helvetica"/>
              </a:rPr>
              <a:t>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889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0A0A0A"/>
                </a:solidFill>
                <a:latin typeface="Helvetica"/>
              </a:rPr>
              <a:t>Browser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204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F1F1F"/>
                </a:solidFill>
                <a:latin typeface="맑은 고딕"/>
              </a:rPr>
              <a:t>· React CDN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862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F1F1F"/>
                </a:solidFill>
                <a:latin typeface="맑은 고딕"/>
              </a:rPr>
              <a:t>· Pretendard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519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F1F1F"/>
                </a:solidFill>
                <a:latin typeface="맑은 고딕"/>
              </a:rPr>
              <a:t>· 흑백 미니멀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177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F1F1F"/>
                </a:solidFill>
                <a:latin typeface="맑은 고딕"/>
              </a:rPr>
              <a:t>· JWT (localStorage)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91840" y="3886200"/>
            <a:ext cx="1005840" cy="0"/>
          </a:xfrm>
          <a:prstGeom prst="line">
            <a:avLst/>
          </a:prstGeom>
          <a:ln w="19050">
            <a:solidFill>
              <a:srgbClr val="0A0A0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389120" y="2286000"/>
            <a:ext cx="3291840" cy="32004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24688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B0B0B0"/>
                </a:solidFill>
                <a:latin typeface="Helvetica"/>
              </a:rPr>
              <a:t>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8892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Helvetica"/>
              </a:rPr>
              <a:t>Vercel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5204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FFFFF"/>
                </a:solidFill>
                <a:latin typeface="맑은 고딕"/>
              </a:rPr>
              <a:t>· 8 Serverless Functions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8862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FFFFF"/>
                </a:solidFill>
                <a:latin typeface="맑은 고딕"/>
              </a:rPr>
              <a:t>· ?view= 분기 라우팅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25196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FFFFF"/>
                </a:solidFill>
                <a:latin typeface="맑은 고딕"/>
              </a:rPr>
              <a:t>· JWT 검증 미들웨어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6177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FFFFF"/>
                </a:solidFill>
                <a:latin typeface="맑은 고딕"/>
              </a:rPr>
              <a:t>· 환경변수 5개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0" y="3886200"/>
            <a:ext cx="1005840" cy="0"/>
          </a:xfrm>
          <a:prstGeom prst="line">
            <a:avLst/>
          </a:prstGeom>
          <a:ln w="19050">
            <a:solidFill>
              <a:srgbClr val="0A0A0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8869680" y="2286000"/>
            <a:ext cx="286207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0" y="2468880"/>
            <a:ext cx="28620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6B6B6B"/>
                </a:solidFill>
                <a:latin typeface="Helvetica"/>
              </a:rPr>
              <a:t>EXTERNAL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2788920"/>
            <a:ext cx="28620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0A0A0A"/>
                </a:solidFill>
                <a:latin typeface="Helvetica"/>
              </a:rPr>
              <a:t>Services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352044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F1F1F"/>
                </a:solidFill>
                <a:latin typeface="맑은 고딕"/>
              </a:rPr>
              <a:t>· Supabase (pg)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388620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F1F1F"/>
                </a:solidFill>
                <a:latin typeface="맑은 고딕"/>
              </a:rPr>
              <a:t>· Notion MCP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25196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F1F1F"/>
                </a:solidFill>
                <a:latin typeface="맑은 고딕"/>
              </a:rPr>
              <a:t>· Chrome MCP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461772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F1F1F"/>
                </a:solidFill>
                <a:latin typeface="맑은 고딕"/>
              </a:rPr>
              <a:t>· Claude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6B6B6B"/>
                </a:solidFill>
                <a:latin typeface="맑은 고딕"/>
              </a:rPr>
              <a:t>Vercel 함수는 8개로 시작 (12개 한도까지 4개 여유) · MCP는 로컬(Claude Code)에서 동작, Vercel과 무관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0A0A0A"/>
                </a:solidFill>
                <a:latin typeface="Helvetica"/>
              </a:rPr>
              <a:t>PRIME.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6B6B"/>
                </a:solidFill>
                <a:latin typeface="Helvetica"/>
              </a:rPr>
              <a:t>09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6B6B6B"/>
                </a:solidFill>
                <a:latin typeface="Helvetica"/>
              </a:rPr>
              <a:t>09  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>
                <a:solidFill>
                  <a:srgbClr val="0A0A0A"/>
                </a:solidFill>
                <a:latin typeface="맑은 고딕"/>
              </a:rPr>
              <a:t>Supabase 스키마 설계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508760"/>
            <a:ext cx="11274552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828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A0A0A"/>
                </a:solidFill>
                <a:latin typeface="맑은 고딕"/>
              </a:rPr>
              <a:t>핵심 원칙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2194560"/>
            <a:ext cx="1188720" cy="0"/>
          </a:xfrm>
          <a:prstGeom prst="line">
            <a:avLst/>
          </a:prstGeom>
          <a:ln w="1905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2468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B0B0B0"/>
                </a:solidFill>
                <a:latin typeface="Helvetic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A0A0A"/>
                </a:solidFill>
                <a:latin typeface="맑은 고딕"/>
              </a:rPr>
              <a:t>4주차 DB 재사용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B6B6B"/>
                </a:solidFill>
                <a:latin typeface="맑은 고딕"/>
              </a:rPr>
              <a:t>ayddgqqeifsefbugmphd (Supabase 슬롯 절약)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546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B0B0B0"/>
                </a:solidFill>
                <a:latin typeface="Helvetic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1546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A0A0A"/>
                </a:solidFill>
                <a:latin typeface="맑은 고딕"/>
              </a:rPr>
              <a:t>app 스키마 분리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429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B6B6B"/>
                </a:solidFill>
                <a:latin typeface="맑은 고딕"/>
              </a:rPr>
              <a:t>5주차 테이블은 모두 app.* 위치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404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B0B0B0"/>
                </a:solidFill>
                <a:latin typeface="Helvetica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8404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A0A0A"/>
                </a:solidFill>
                <a:latin typeface="맑은 고딕"/>
              </a:rPr>
              <a:t>prefix 네이밍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1148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B6B6B"/>
                </a:solidFill>
                <a:latin typeface="맑은 고딕"/>
              </a:rPr>
              <a:t>auth_ / budget_ / community_ 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262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B0B0B0"/>
                </a:solidFill>
                <a:latin typeface="Helvetica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5262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A0A0A"/>
                </a:solidFill>
                <a:latin typeface="맑은 고딕"/>
              </a:rPr>
              <a:t>pg 직접 연결만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8006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B6B6B"/>
                </a:solidFill>
                <a:latin typeface="맑은 고딕"/>
              </a:rPr>
              <a:t>Supabase JS SDK 사용 금지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212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B0B0B0"/>
                </a:solidFill>
                <a:latin typeface="Helvetica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212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A0A0A"/>
                </a:solidFill>
                <a:latin typeface="맑은 고딕"/>
              </a:rPr>
              <a:t>RLS 유지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4864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B6B6B"/>
                </a:solidFill>
                <a:latin typeface="맑은 고딕"/>
              </a:rPr>
              <a:t>4주차 정책 그대로, postgres 슈퍼유저로 우회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828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A0A0A"/>
                </a:solidFill>
                <a:latin typeface="맑은 고딕"/>
              </a:rPr>
              <a:t>테이블 매핑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0" y="2194560"/>
            <a:ext cx="1188720" cy="0"/>
          </a:xfrm>
          <a:prstGeom prst="line">
            <a:avLst/>
          </a:prstGeom>
          <a:ln w="1905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400800" y="2468880"/>
            <a:ext cx="5330952" cy="35661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260604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B0B0B0"/>
                </a:solidFill>
                <a:latin typeface="Consolas"/>
              </a:rPr>
              <a:t># 5주차 신규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852928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Consolas"/>
              </a:rPr>
              <a:t>app.auth_users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099816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Consolas"/>
              </a:rPr>
              <a:t>app.auth_sessions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346704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Consolas"/>
              </a:rPr>
              <a:t>app.budget_*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593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Consolas"/>
              </a:rPr>
              <a:t>app.community_*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84048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Consolas"/>
              </a:rPr>
              <a:t>app.shop_products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087368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Consolas"/>
              </a:rPr>
              <a:t>app.shop_cart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334256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Consolas"/>
              </a:rPr>
              <a:t>app.context_profile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581144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Consolas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482803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B0B0B0"/>
                </a:solidFill>
                <a:latin typeface="Consolas"/>
              </a:rPr>
              <a:t># 4주차 (재사용)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507492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B0B0B0"/>
                </a:solidFill>
                <a:latin typeface="Consolas"/>
              </a:rPr>
              <a:t>public.fridge_*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5321808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B0B0B0"/>
                </a:solidFill>
                <a:latin typeface="Consolas"/>
              </a:rPr>
              <a:t>public.board_*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5568696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B0B0B0"/>
                </a:solidFill>
                <a:latin typeface="Consolas"/>
              </a:rPr>
              <a:t>public.life_*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0A0A0A"/>
                </a:solidFill>
                <a:latin typeface="Helvetica"/>
              </a:rPr>
              <a:t>PRIME.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6B6B"/>
                </a:solidFill>
                <a:latin typeface="Helvetica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6B6B6B"/>
                </a:solidFill>
                <a:latin typeface="Helvetica"/>
              </a:rPr>
              <a:t>10  API ROUTES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>
                <a:solidFill>
                  <a:srgbClr val="0A0A0A"/>
                </a:solidFill>
                <a:latin typeface="맑은 고딕"/>
              </a:rPr>
              <a:t>Vercel 함수 매핑 — 8/12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508760"/>
            <a:ext cx="11274552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6B6B6B"/>
                </a:solidFill>
                <a:latin typeface="맑은 고딕"/>
              </a:rPr>
              <a:t>한도 12개 / 사용 8개 — 새 기능은 ?view= 분기로 흡수한다.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7315200" cy="4572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0487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Helvetica"/>
              </a:rPr>
              <a:t>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40487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Helvetica"/>
              </a:rPr>
              <a:t>VIEWS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4048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Helvetica"/>
              </a:rPr>
              <a:t>USED BY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743200"/>
            <a:ext cx="73152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8163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A0A0A"/>
                </a:solidFill>
                <a:latin typeface="Consolas"/>
              </a:rPr>
              <a:t>auth.js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81635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F1F1F"/>
                </a:solidFill>
                <a:latin typeface="Consolas"/>
              </a:rPr>
              <a:t>register / login / me / logout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8163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맑은 고딕"/>
              </a:rPr>
              <a:t>공통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127248"/>
            <a:ext cx="7315200" cy="384048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2004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A0A0A"/>
                </a:solidFill>
                <a:latin typeface="Consolas"/>
              </a:rPr>
              <a:t>budget.js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2004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F1F1F"/>
                </a:solidFill>
                <a:latin typeface="Consolas"/>
              </a:rPr>
              <a:t>list / create / update / delete / analyze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32004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맑은 고딕"/>
              </a:rPr>
              <a:t>Q3, Q4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511296"/>
            <a:ext cx="73152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5844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A0A0A"/>
                </a:solidFill>
                <a:latin typeface="Consolas"/>
              </a:rPr>
              <a:t>community.js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358444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F1F1F"/>
                </a:solidFill>
                <a:latin typeface="Consolas"/>
              </a:rPr>
              <a:t>posts / comments / reactions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5844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맑은 고딕"/>
              </a:rPr>
              <a:t>Q5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895344"/>
            <a:ext cx="7315200" cy="384048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96849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A0A0A"/>
                </a:solidFill>
                <a:latin typeface="Consolas"/>
              </a:rPr>
              <a:t>shop.js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3968496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F1F1F"/>
                </a:solidFill>
                <a:latin typeface="Consolas"/>
              </a:rPr>
              <a:t>products / cart / orders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396849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맑은 고딕"/>
              </a:rPr>
              <a:t>Q6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279392"/>
            <a:ext cx="73152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35254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A0A0A"/>
                </a:solidFill>
                <a:latin typeface="Consolas"/>
              </a:rPr>
              <a:t>context.js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0" y="435254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F1F1F"/>
                </a:solidFill>
                <a:latin typeface="Consolas"/>
              </a:rPr>
              <a:t>profile / memories / chat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435254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맑은 고딕"/>
              </a:rPr>
              <a:t>Q7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663440"/>
            <a:ext cx="7315200" cy="384048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736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A0A0A"/>
                </a:solidFill>
                <a:latin typeface="Consolas"/>
              </a:rPr>
              <a:t>dashboard.js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51760" y="473659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F1F1F"/>
                </a:solidFill>
                <a:latin typeface="Consolas"/>
              </a:rPr>
              <a:t>summary / widgets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473659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맑은 고딕"/>
              </a:rPr>
              <a:t>Q8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047488"/>
            <a:ext cx="73152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5120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A0A0A"/>
                </a:solidFill>
                <a:latin typeface="Consolas"/>
              </a:rPr>
              <a:t>ai.js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51760" y="51206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F1F1F"/>
                </a:solidFill>
                <a:latin typeface="Consolas"/>
              </a:rPr>
              <a:t>claude / notion (외부 호출 통합)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51206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맑은 고딕"/>
              </a:rPr>
              <a:t>공통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5431536"/>
            <a:ext cx="7315200" cy="384048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55046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A0A0A"/>
                </a:solidFill>
                <a:latin typeface="Consolas"/>
              </a:rPr>
              <a:t>research.js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51760" y="550468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F1F1F"/>
                </a:solidFill>
                <a:latin typeface="Consolas"/>
              </a:rPr>
              <a:t>save / list (Q2 결과 — 옵션)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0" y="55046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맑은 고딕"/>
              </a:rPr>
              <a:t>Q2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22860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A0A0A"/>
                </a:solidFill>
                <a:latin typeface="맑은 고딕"/>
              </a:rPr>
              <a:t>한도 사용량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12480" y="2788920"/>
            <a:ext cx="256032" cy="3657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686800" y="2788920"/>
            <a:ext cx="256032" cy="3657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961119" y="2788920"/>
            <a:ext cx="256032" cy="3657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235440" y="2788920"/>
            <a:ext cx="256032" cy="3657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509759" y="2788920"/>
            <a:ext cx="256032" cy="3657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784080" y="2788920"/>
            <a:ext cx="256032" cy="3657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058400" y="2788920"/>
            <a:ext cx="256032" cy="3657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332720" y="2788920"/>
            <a:ext cx="256032" cy="3657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607040" y="2788920"/>
            <a:ext cx="256032" cy="36576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881359" y="2788920"/>
            <a:ext cx="256032" cy="36576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155680" y="2788920"/>
            <a:ext cx="256032" cy="36576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1430000" y="2788920"/>
            <a:ext cx="256032" cy="36576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12480" y="32461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A0A0A"/>
                </a:solidFill>
                <a:latin typeface="Helvetica"/>
              </a:rPr>
              <a:t>8 / 12 functions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12480" y="36118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맑은 고딕"/>
              </a:rPr>
              <a:t>여유 4개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412480" y="4389120"/>
            <a:ext cx="3291840" cy="1645920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95360" y="45262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B6B6B"/>
                </a:solidFill>
                <a:latin typeface="Helvetica"/>
              </a:rPr>
              <a:t>GOLDEN RULE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95360" y="48006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A0A0A"/>
                </a:solidFill>
                <a:latin typeface="맑은 고딕"/>
              </a:rPr>
              <a:t>새 함수 추가 금지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95360" y="5212080"/>
            <a:ext cx="3108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F1F1F"/>
                </a:solidFill>
                <a:latin typeface="맑은 고딕"/>
              </a:rPr>
              <a:t>기존 파일에 ?view= 분기로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F1F1F"/>
                </a:solidFill>
                <a:latin typeface="맑은 고딕"/>
              </a:rPr>
              <a:t>흡수한다. 4주차 12/12 사고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F1F1F"/>
                </a:solidFill>
                <a:latin typeface="맑은 고딕"/>
              </a:rPr>
              <a:t>재발 방지.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0A0A0A"/>
                </a:solidFill>
                <a:latin typeface="Helvetica"/>
              </a:rPr>
              <a:t>PRIME.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6B6B"/>
                </a:solidFill>
                <a:latin typeface="Helvetica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6B6B6B"/>
                </a:solidFill>
                <a:latin typeface="Helvetica"/>
              </a:rPr>
              <a:t>11  AUTH &amp;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>
                <a:solidFill>
                  <a:srgbClr val="0A0A0A"/>
                </a:solidFill>
                <a:latin typeface="맑은 고딕"/>
              </a:rPr>
              <a:t>인증·보안 정책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508760"/>
            <a:ext cx="11274552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40080" y="182880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6B6B6B"/>
                </a:solidFill>
                <a:latin typeface="Helvetica"/>
              </a:rPr>
              <a:t>JWT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0A0A0A"/>
                </a:solidFill>
                <a:latin typeface="맑은 고딕"/>
              </a:rPr>
              <a:t>토큰 만료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0A0A0A"/>
                </a:solidFill>
                <a:latin typeface="Helvetica"/>
              </a:rPr>
              <a:t>7 days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97280" y="3794760"/>
            <a:ext cx="17830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59" y="393192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1F1F1F"/>
                </a:solidFill>
                <a:latin typeface="맑은 고딕"/>
              </a:rPr>
              <a:t>에이전트 기본값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182880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05740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6B6B6B"/>
                </a:solidFill>
                <a:latin typeface="Helvetica"/>
              </a:rPr>
              <a:t>bcrypt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46888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0A0A0A"/>
                </a:solidFill>
                <a:latin typeface="맑은 고딕"/>
              </a:rPr>
              <a:t>비밀번호 해시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017520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0A0A0A"/>
                </a:solidFill>
                <a:latin typeface="Helvetica"/>
              </a:rPr>
              <a:t>10 rounds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931920" y="3794760"/>
            <a:ext cx="17830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657600" y="393192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1F1F1F"/>
                </a:solidFill>
                <a:latin typeface="맑은 고딕"/>
              </a:rPr>
              <a:t>DB 털려도 안전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82880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205740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6B6B6B"/>
                </a:solidFill>
                <a:latin typeface="Helvetica"/>
              </a:rPr>
              <a:t>Storage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46888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0A0A0A"/>
                </a:solidFill>
                <a:latin typeface="맑은 고딕"/>
              </a:rPr>
              <a:t>토큰 보관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017520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0A0A0A"/>
                </a:solidFill>
                <a:latin typeface="Helvetica"/>
              </a:rPr>
              <a:t>localStorage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766560" y="3794760"/>
            <a:ext cx="17830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92240" y="393192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1F1F1F"/>
                </a:solidFill>
                <a:latin typeface="맑은 고딕"/>
              </a:rPr>
              <a:t>브라우저 닫아도 유지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0" y="182880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205740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6B6B6B"/>
                </a:solidFill>
                <a:latin typeface="Helvetica"/>
              </a:rPr>
              <a:t>Secrets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46888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0A0A0A"/>
                </a:solidFill>
                <a:latin typeface="맑은 고딕"/>
              </a:rPr>
              <a:t>환경변수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017520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0A0A0A"/>
                </a:solidFill>
                <a:latin typeface="Helvetica"/>
              </a:rPr>
              <a:t>5 keys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601200" y="3794760"/>
            <a:ext cx="17830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326880" y="393192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1F1F1F"/>
                </a:solidFill>
                <a:latin typeface="맑은 고딕"/>
              </a:rPr>
              <a:t>DATABASE_URL 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A0A0A"/>
                </a:solidFill>
                <a:latin typeface="맑은 고딕"/>
              </a:rPr>
              <a:t>회원가입 흐름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40080" y="5303520"/>
            <a:ext cx="1188720" cy="0"/>
          </a:xfrm>
          <a:prstGeom prst="line">
            <a:avLst/>
          </a:prstGeom>
          <a:ln w="1905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1249462" y="5532120"/>
            <a:ext cx="365760" cy="36576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49462" y="557784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Helvetica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989320"/>
            <a:ext cx="15845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1F1F1F"/>
                </a:solidFill>
                <a:latin typeface="맑은 고딕"/>
              </a:rPr>
              <a:t>요청</a:t>
            </a:r>
          </a:p>
        </p:txBody>
      </p:sp>
      <p:sp>
        <p:nvSpPr>
          <p:cNvPr id="34" name="Oval 33"/>
          <p:cNvSpPr/>
          <p:nvPr/>
        </p:nvSpPr>
        <p:spPr>
          <a:xfrm>
            <a:off x="2833986" y="5532120"/>
            <a:ext cx="365760" cy="36576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33986" y="557784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Helvetica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24604" y="5989320"/>
            <a:ext cx="15845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1F1F1F"/>
                </a:solidFill>
                <a:latin typeface="맑은 고딕"/>
              </a:rPr>
              <a:t>이메일 중복</a:t>
            </a:r>
          </a:p>
        </p:txBody>
      </p:sp>
      <p:sp>
        <p:nvSpPr>
          <p:cNvPr id="37" name="Oval 36"/>
          <p:cNvSpPr/>
          <p:nvPr/>
        </p:nvSpPr>
        <p:spPr>
          <a:xfrm>
            <a:off x="4418511" y="5532120"/>
            <a:ext cx="365760" cy="36576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18511" y="557784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Helvetica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09129" y="5989320"/>
            <a:ext cx="15845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1F1F1F"/>
                </a:solidFill>
                <a:latin typeface="맑은 고딕"/>
              </a:rPr>
              <a:t>비번 해시</a:t>
            </a:r>
          </a:p>
        </p:txBody>
      </p:sp>
      <p:sp>
        <p:nvSpPr>
          <p:cNvPr id="40" name="Oval 39"/>
          <p:cNvSpPr/>
          <p:nvPr/>
        </p:nvSpPr>
        <p:spPr>
          <a:xfrm>
            <a:off x="6003036" y="5532120"/>
            <a:ext cx="365760" cy="36576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03036" y="557784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Helvetica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93653" y="5989320"/>
            <a:ext cx="15845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1F1F1F"/>
                </a:solidFill>
                <a:latin typeface="맑은 고딕"/>
              </a:rPr>
              <a:t>DB 저장</a:t>
            </a:r>
          </a:p>
        </p:txBody>
      </p:sp>
      <p:sp>
        <p:nvSpPr>
          <p:cNvPr id="43" name="Oval 42"/>
          <p:cNvSpPr/>
          <p:nvPr/>
        </p:nvSpPr>
        <p:spPr>
          <a:xfrm>
            <a:off x="7587560" y="5532120"/>
            <a:ext cx="365760" cy="36576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87560" y="557784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Helvetica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78178" y="5989320"/>
            <a:ext cx="15845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1F1F1F"/>
                </a:solidFill>
                <a:latin typeface="맑은 고딕"/>
              </a:rPr>
              <a:t>JWT 생성</a:t>
            </a:r>
          </a:p>
        </p:txBody>
      </p:sp>
      <p:sp>
        <p:nvSpPr>
          <p:cNvPr id="46" name="Oval 45"/>
          <p:cNvSpPr/>
          <p:nvPr/>
        </p:nvSpPr>
        <p:spPr>
          <a:xfrm>
            <a:off x="9172085" y="5532120"/>
            <a:ext cx="365760" cy="36576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72085" y="557784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Helvetica"/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62702" y="5989320"/>
            <a:ext cx="15845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1F1F1F"/>
                </a:solidFill>
                <a:latin typeface="맑은 고딕"/>
              </a:rPr>
              <a:t>응답</a:t>
            </a:r>
          </a:p>
        </p:txBody>
      </p:sp>
      <p:sp>
        <p:nvSpPr>
          <p:cNvPr id="49" name="Oval 48"/>
          <p:cNvSpPr/>
          <p:nvPr/>
        </p:nvSpPr>
        <p:spPr>
          <a:xfrm>
            <a:off x="10756609" y="5532120"/>
            <a:ext cx="365760" cy="36576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756609" y="557784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Helvetica"/>
              </a:rPr>
              <a:t>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47227" y="5989320"/>
            <a:ext cx="15845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1F1F1F"/>
                </a:solidFill>
                <a:latin typeface="맑은 고딕"/>
              </a:rPr>
              <a:t>저장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0A0A0A"/>
                </a:solidFill>
                <a:latin typeface="Helvetica"/>
              </a:rPr>
              <a:t>PRIME.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6B6B"/>
                </a:solidFill>
                <a:latin typeface="Helvetica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6B6B6B"/>
                </a:solidFill>
                <a:latin typeface="Helvetica"/>
              </a:rPr>
              <a:t>12 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>
                <a:solidFill>
                  <a:srgbClr val="0A0A0A"/>
                </a:solidFill>
                <a:latin typeface="맑은 고딕"/>
              </a:rPr>
              <a:t>디자인 시스템 — 흑백 미니멀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508760"/>
            <a:ext cx="11274552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8288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A0A0A"/>
                </a:solidFill>
                <a:latin typeface="Helvetica"/>
              </a:rPr>
              <a:t>Color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2194560"/>
            <a:ext cx="1188720" cy="0"/>
          </a:xfrm>
          <a:prstGeom prst="line">
            <a:avLst/>
          </a:prstGeom>
          <a:ln w="1905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40080" y="2468880"/>
            <a:ext cx="457200" cy="411480"/>
          </a:xfrm>
          <a:prstGeom prst="rect">
            <a:avLst/>
          </a:prstGeom>
          <a:solidFill>
            <a:srgbClr val="0A0A0A"/>
          </a:solidFill>
          <a:ln w="317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46888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A0A0A"/>
                </a:solidFill>
                <a:latin typeface="Helvetica"/>
              </a:rPr>
              <a:t>Black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69748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#0A0A0A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5603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F1F1F"/>
                </a:solidFill>
                <a:latin typeface="맑은 고딕"/>
              </a:rPr>
              <a:t>Text · Borders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971800"/>
            <a:ext cx="457200" cy="411480"/>
          </a:xfrm>
          <a:prstGeom prst="rect">
            <a:avLst/>
          </a:prstGeom>
          <a:solidFill>
            <a:srgbClr val="1F1F1F"/>
          </a:solidFill>
          <a:ln w="317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297180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A0A0A"/>
                </a:solidFill>
                <a:latin typeface="Helvetica"/>
              </a:rPr>
              <a:t>Dark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20040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#1F1F1F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063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F1F1F"/>
                </a:solidFill>
                <a:latin typeface="맑은 고딕"/>
              </a:rPr>
              <a:t>Headings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474720"/>
            <a:ext cx="457200" cy="411480"/>
          </a:xfrm>
          <a:prstGeom prst="rect">
            <a:avLst/>
          </a:prstGeom>
          <a:solidFill>
            <a:srgbClr val="6B6B6B"/>
          </a:solidFill>
          <a:ln w="317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34747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A0A0A"/>
                </a:solidFill>
                <a:latin typeface="Helvetica"/>
              </a:rPr>
              <a:t>Gray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7033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#6B6B6B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5661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F1F1F"/>
                </a:solidFill>
                <a:latin typeface="맑은 고딕"/>
              </a:rPr>
              <a:t>Secondary text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977640"/>
            <a:ext cx="457200" cy="411480"/>
          </a:xfrm>
          <a:prstGeom prst="rect">
            <a:avLst/>
          </a:prstGeom>
          <a:solidFill>
            <a:srgbClr val="B0B0B0"/>
          </a:solidFill>
          <a:ln w="317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397764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A0A0A"/>
                </a:solidFill>
                <a:latin typeface="Helvetica"/>
              </a:rPr>
              <a:t>Light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20624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#B0B0B0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0690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F1F1F"/>
                </a:solidFill>
                <a:latin typeface="맑은 고딕"/>
              </a:rPr>
              <a:t>Captions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480560"/>
            <a:ext cx="457200" cy="411480"/>
          </a:xfrm>
          <a:prstGeom prst="rect">
            <a:avLst/>
          </a:prstGeom>
          <a:solidFill>
            <a:srgbClr val="E5E5E5"/>
          </a:solidFill>
          <a:ln w="317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40" y="448056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A0A0A"/>
                </a:solidFill>
                <a:latin typeface="Helvetica"/>
              </a:rPr>
              <a:t>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70916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#E5E5E5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45720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F1F1F"/>
                </a:solidFill>
                <a:latin typeface="맑은 고딕"/>
              </a:rPr>
              <a:t>Dividers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983480"/>
            <a:ext cx="457200" cy="411480"/>
          </a:xfrm>
          <a:prstGeom prst="rect">
            <a:avLst/>
          </a:prstGeom>
          <a:solidFill>
            <a:srgbClr val="F7F7F7"/>
          </a:solidFill>
          <a:ln w="317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34440" y="498348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A0A0A"/>
                </a:solidFill>
                <a:latin typeface="Helvetica"/>
              </a:rPr>
              <a:t>Soft BG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521208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#F7F7F7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50749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F1F1F"/>
                </a:solidFill>
                <a:latin typeface="맑은 고딕"/>
              </a:rPr>
              <a:t>Card background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623560"/>
            <a:ext cx="5029200" cy="548640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7150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0A0A0A"/>
                </a:solidFill>
                <a:latin typeface="Helvetica"/>
              </a:rPr>
              <a:t>Point Color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89788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B6B6B"/>
                </a:solidFill>
                <a:latin typeface="맑은 고딕"/>
              </a:rPr>
              <a:t>TBD — 모듈 구현 중 결정 (색에 의존하지 않음)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18288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A0A0A"/>
                </a:solidFill>
                <a:latin typeface="Helvetica"/>
              </a:rPr>
              <a:t>Typography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400800" y="2194560"/>
            <a:ext cx="1188720" cy="0"/>
          </a:xfrm>
          <a:prstGeom prst="line">
            <a:avLst/>
          </a:prstGeom>
          <a:ln w="1905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400800" y="2468880"/>
            <a:ext cx="53309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>
                <a:solidFill>
                  <a:srgbClr val="0A0A0A"/>
                </a:solidFill>
                <a:latin typeface="Helvetica"/>
              </a:rPr>
              <a:t>PRIME.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3154680"/>
            <a:ext cx="53309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B6B"/>
                </a:solidFill>
                <a:latin typeface="Helvetica"/>
              </a:rPr>
              <a:t>Helvetica · Bold · 80pt — 표지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3611880"/>
            <a:ext cx="53309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0A0A0A"/>
                </a:solidFill>
                <a:latin typeface="맑은 고딕"/>
              </a:rPr>
              <a:t>나를 점화하다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114800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B6B"/>
                </a:solidFill>
                <a:latin typeface="맑은 고딕"/>
              </a:rPr>
              <a:t>맑은 고딕 · Bold · 28pt — 슬라이드 제목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526280"/>
            <a:ext cx="53309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F1F1F"/>
                </a:solidFill>
                <a:latin typeface="맑은 고딕"/>
              </a:rPr>
              <a:t>본문은 14pt, 캡션은 10pt로 정돈한다.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4937760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B6B"/>
                </a:solidFill>
                <a:latin typeface="맑은 고딕"/>
              </a:rPr>
              <a:t>맑은 고딕 · Regular · 14pt — 본문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5486400"/>
            <a:ext cx="5330952" cy="6858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0" y="55778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B0B0B0"/>
                </a:solidFill>
                <a:latin typeface="Helvetica"/>
              </a:rPr>
              <a:t>PRINCIPLES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58064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FFFFFF"/>
                </a:solidFill>
                <a:latin typeface="맑은 고딕"/>
              </a:rPr>
              <a:t>Less ink, more space. 색이 아닌 타이포가 말한다.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0A0A0A"/>
                </a:solidFill>
                <a:latin typeface="Helvetica"/>
              </a:rPr>
              <a:t>PRIME.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6B6B"/>
                </a:solidFill>
                <a:latin typeface="Helvetica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6B6B6B"/>
                </a:solidFill>
                <a:latin typeface="Helvetica"/>
              </a:rPr>
              <a:t>13  TOOLSET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>
                <a:solidFill>
                  <a:srgbClr val="0A0A0A"/>
                </a:solidFill>
                <a:latin typeface="맑은 고딕"/>
              </a:rPr>
              <a:t>MCP &amp; Skills — 도구 준비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508760"/>
            <a:ext cx="11274552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6B6B6B"/>
                </a:solidFill>
                <a:latin typeface="맑은 고딕"/>
              </a:rPr>
              <a:t>도구는 이미 있는 것을 쓴다 — 직접 만드는 건 마지막에.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A0A0A"/>
                </a:solidFill>
                <a:latin typeface="맑은 고딕"/>
              </a:rPr>
              <a:t>MCP — 외부 연결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2560320"/>
            <a:ext cx="1645920" cy="0"/>
          </a:xfrm>
          <a:prstGeom prst="line">
            <a:avLst/>
          </a:prstGeom>
          <a:ln w="1905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2651760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1">
                <a:solidFill>
                  <a:srgbClr val="6B6B6B"/>
                </a:solidFill>
                <a:latin typeface="맑은 고딕"/>
              </a:rPr>
              <a:t>Claude Code의 "콘센트" — 외부 서비스에 직접 연결하는 통로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063240"/>
            <a:ext cx="533095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3182112"/>
            <a:ext cx="502920" cy="24688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209544"/>
            <a:ext cx="5029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 i="0">
                <a:solidFill>
                  <a:srgbClr val="FFFFFF"/>
                </a:solidFill>
                <a:latin typeface="맑은 고딕"/>
              </a:rPr>
              <a:t>필수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1546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A0A0A"/>
                </a:solidFill>
                <a:latin typeface="Helvetica"/>
              </a:rPr>
              <a:t>Notion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18211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B6B6B"/>
                </a:solidFill>
                <a:latin typeface="Helvetica"/>
              </a:rPr>
              <a:t>Q1, Q2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4472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F1F1F"/>
                </a:solidFill>
                <a:latin typeface="맑은 고딕"/>
              </a:rPr>
              <a:t>노션 비서 + 리서치 결과 자동 업로드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776472"/>
            <a:ext cx="533095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895344"/>
            <a:ext cx="502920" cy="24688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922776"/>
            <a:ext cx="5029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 i="0">
                <a:solidFill>
                  <a:srgbClr val="FFFFFF"/>
                </a:solidFill>
                <a:latin typeface="맑은 고딕"/>
              </a:rPr>
              <a:t>필수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67911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A0A0A"/>
                </a:solidFill>
                <a:latin typeface="Helvetica"/>
              </a:rPr>
              <a:t>Chrome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89534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B6B6B"/>
                </a:solidFill>
                <a:latin typeface="Helvetica"/>
              </a:rPr>
              <a:t>Q2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1605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F1F1F"/>
                </a:solidFill>
                <a:latin typeface="맑은 고딕"/>
              </a:rPr>
              <a:t>Playwright 기반 브라우저 자동화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489704"/>
            <a:ext cx="533095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608576"/>
            <a:ext cx="502920" cy="246888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636008"/>
            <a:ext cx="5029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 i="0">
                <a:solidFill>
                  <a:srgbClr val="1F1F1F"/>
                </a:solidFill>
                <a:latin typeface="맑은 고딕"/>
              </a:rPr>
              <a:t>강추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581144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A0A0A"/>
                </a:solidFill>
                <a:latin typeface="Helvetica"/>
              </a:rPr>
              <a:t>Supabase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60857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B6B6B"/>
                </a:solidFill>
                <a:latin typeface="Helvetica"/>
              </a:rPr>
              <a:t>Q3~Q8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8737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F1F1F"/>
                </a:solidFill>
                <a:latin typeface="맑은 고딕"/>
              </a:rPr>
              <a:t>DB 조회 자동화, 디버깅 시간 80% 단축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202936"/>
            <a:ext cx="533095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321807"/>
            <a:ext cx="502920" cy="246888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349240"/>
            <a:ext cx="5029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 i="0">
                <a:solidFill>
                  <a:srgbClr val="1F1F1F"/>
                </a:solidFill>
                <a:latin typeface="맑은 고딕"/>
              </a:rPr>
              <a:t>강추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5294375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A0A0A"/>
                </a:solidFill>
                <a:latin typeface="Helvetica"/>
              </a:rPr>
              <a:t>GitHub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5321807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B6B6B"/>
                </a:solidFill>
                <a:latin typeface="Helvetica"/>
              </a:rPr>
              <a:t>공통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586983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F1F1F"/>
                </a:solidFill>
                <a:latin typeface="맑은 고딕"/>
              </a:rPr>
              <a:t>레포 푸시·이슈 관리 자동화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1945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A0A0A"/>
                </a:solidFill>
                <a:latin typeface="맑은 고딕"/>
              </a:rPr>
              <a:t>Skill — 작업 표준화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400800" y="2560320"/>
            <a:ext cx="1554479" cy="0"/>
          </a:xfrm>
          <a:prstGeom prst="line">
            <a:avLst/>
          </a:prstGeom>
          <a:ln w="1905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400800" y="2651760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1">
                <a:solidFill>
                  <a:srgbClr val="6B6B6B"/>
                </a:solidFill>
                <a:latin typeface="맑은 고딕"/>
              </a:rPr>
              <a:t>Claude Code의 "작업 매뉴얼" — 항상 이렇게 해 라고 박아두는 규칙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3063240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B6B6B"/>
                </a:solidFill>
                <a:latin typeface="Helvetica"/>
              </a:rPr>
              <a:t>이미 보유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3291840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F1F1F"/>
                </a:solidFill>
                <a:latin typeface="Consolas"/>
              </a:rPr>
              <a:t>pptx-design · krds-convert · hwpx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3749039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0A0A0A"/>
                </a:solidFill>
                <a:latin typeface="Helvetica"/>
              </a:rPr>
              <a:t>5주차에 만들 것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400800" y="4023360"/>
            <a:ext cx="5330952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6400800" y="4160520"/>
            <a:ext cx="5330952" cy="777240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427024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A0A0A"/>
                </a:solidFill>
                <a:latin typeface="Consolas"/>
              </a:rPr>
              <a:t>prime-design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42976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B6B6B"/>
                </a:solidFill>
                <a:latin typeface="맑은 고딕"/>
              </a:rPr>
              <a:t>디자인 일관성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45720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F1F1F"/>
                </a:solidFill>
                <a:latin typeface="맑은 고딕"/>
              </a:rPr>
              <a:t>8개 모듈 모두 흑백 미니멀로 자동 통일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5029200"/>
            <a:ext cx="5330952" cy="777240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0" y="513892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A0A0A"/>
                </a:solidFill>
                <a:latin typeface="Consolas"/>
              </a:rPr>
              <a:t>supabase-w5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0" y="51663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B6B6B"/>
                </a:solidFill>
                <a:latin typeface="맑은 고딕"/>
              </a:rPr>
              <a:t>DB 5원칙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54406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F1F1F"/>
                </a:solidFill>
                <a:latin typeface="맑은 고딕"/>
              </a:rPr>
              <a:t>app 스키마 + prefix + pg 직접 연결 자동 강제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" y="5989320"/>
            <a:ext cx="11091672" cy="3657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" y="605332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FFFFFF"/>
                </a:solidFill>
                <a:latin typeface="맑은 고딕"/>
              </a:rPr>
              <a:t>GOLDEN RULE  ·  스킬은 패턴이 굳은 뒤에 만든다 — Q1~Q3 끝나고 만들어도 늦지 않다.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0A0A0A"/>
                </a:solidFill>
                <a:latin typeface="Helvetica"/>
              </a:rPr>
              <a:t>PRIME.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6B6B"/>
                </a:solidFill>
                <a:latin typeface="Helvetica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6B6B6B"/>
                </a:solidFill>
                <a:latin typeface="Helvetica"/>
              </a:rPr>
              <a:t>14 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>
                <a:solidFill>
                  <a:srgbClr val="0A0A0A"/>
                </a:solidFill>
                <a:latin typeface="맑은 고딕"/>
              </a:rPr>
              <a:t>Day 1 → Day 7 진행 계획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508760"/>
            <a:ext cx="11274552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40080" y="2286000"/>
            <a:ext cx="1554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688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6B6B6B"/>
                </a:solidFill>
                <a:latin typeface="Helvetica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889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B6B6B"/>
                </a:solidFill>
                <a:latin typeface="맑은 고딕"/>
              </a:rPr>
              <a:t>오늘 (월)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3154680"/>
            <a:ext cx="128016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3337560"/>
            <a:ext cx="12801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0A0A0A"/>
                </a:solidFill>
                <a:latin typeface="맑은 고딕"/>
              </a:rPr>
              <a:t>셋업 + Q1 + 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46320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6B6B6B"/>
                </a:solidFill>
                <a:latin typeface="맑은 고딕"/>
              </a:rPr>
              <a:t>MCP 묶음 한 방에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58568" y="2286000"/>
            <a:ext cx="1554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95727" y="24688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6B6B6B"/>
                </a:solidFill>
                <a:latin typeface="Helvetica"/>
              </a:rPr>
              <a:t>Day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7" y="27889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B6B6B"/>
                </a:solidFill>
                <a:latin typeface="맑은 고딕"/>
              </a:rPr>
              <a:t>화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95727" y="3154680"/>
            <a:ext cx="128016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395727" y="3337560"/>
            <a:ext cx="12801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0A0A0A"/>
                </a:solidFill>
                <a:latin typeface="맑은 고딕"/>
              </a:rPr>
              <a:t>Q3 가계부 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95727" y="4846320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6B6B6B"/>
                </a:solidFill>
                <a:latin typeface="맑은 고딕"/>
              </a:rPr>
              <a:t>데이터 10건+ 입력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77056" y="2286000"/>
            <a:ext cx="1554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14216" y="24688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6B6B6B"/>
                </a:solidFill>
                <a:latin typeface="Helvetica"/>
              </a:rPr>
              <a:t>Day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14216" y="27889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B6B6B"/>
                </a:solidFill>
                <a:latin typeface="맑은 고딕"/>
              </a:rPr>
              <a:t>수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014216" y="3154680"/>
            <a:ext cx="128016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014216" y="3337560"/>
            <a:ext cx="12801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0A0A0A"/>
                </a:solidFill>
                <a:latin typeface="맑은 고딕"/>
              </a:rPr>
              <a:t>Q4 + Auth 복습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14216" y="4846320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6B6B6B"/>
                </a:solidFill>
                <a:latin typeface="맑은 고딕"/>
              </a:rPr>
              <a:t>분석 에이전트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95544" y="2286000"/>
            <a:ext cx="1554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32704" y="24688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6B6B6B"/>
                </a:solidFill>
                <a:latin typeface="Helvetica"/>
              </a:rPr>
              <a:t>Day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32704" y="27889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B6B6B"/>
                </a:solidFill>
                <a:latin typeface="맑은 고딕"/>
              </a:rPr>
              <a:t>목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632704" y="3154680"/>
            <a:ext cx="128016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632704" y="3337560"/>
            <a:ext cx="12801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0A0A0A"/>
                </a:solidFill>
                <a:latin typeface="맑은 고딕"/>
              </a:rPr>
              <a:t>Q5 커뮤니티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32704" y="4846320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6B6B6B"/>
                </a:solidFill>
                <a:latin typeface="맑은 고딕"/>
              </a:rPr>
              <a:t>조기 배포 → 친구 공유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14032" y="2286000"/>
            <a:ext cx="1554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51192" y="24688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6B6B6B"/>
                </a:solidFill>
                <a:latin typeface="Helvetica"/>
              </a:rPr>
              <a:t>Day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1192" y="27889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B6B6B"/>
                </a:solidFill>
                <a:latin typeface="맑은 고딕"/>
              </a:rPr>
              <a:t>금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251192" y="3154680"/>
            <a:ext cx="128016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251192" y="3337560"/>
            <a:ext cx="12801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0A0A0A"/>
                </a:solidFill>
                <a:latin typeface="맑은 고딕"/>
              </a:rPr>
              <a:t>Q6 쇼핑몰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51192" y="4846320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6B6B6B"/>
                </a:solidFill>
                <a:latin typeface="맑은 고딕"/>
              </a:rPr>
              <a:t>Auth 패턴 재사용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32519" y="2286000"/>
            <a:ext cx="1554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69680" y="24688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6B6B6B"/>
                </a:solidFill>
                <a:latin typeface="Helvetica"/>
              </a:rPr>
              <a:t>Day 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0" y="27889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B6B6B"/>
                </a:solidFill>
                <a:latin typeface="맑은 고딕"/>
              </a:rPr>
              <a:t>토 오전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869680" y="3154680"/>
            <a:ext cx="1280159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869680" y="3337560"/>
            <a:ext cx="12801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0A0A0A"/>
                </a:solidFill>
                <a:latin typeface="맑은 고딕"/>
              </a:rPr>
              <a:t>Q7 Self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9680" y="4846320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6B6B6B"/>
                </a:solidFill>
                <a:latin typeface="맑은 고딕"/>
              </a:rPr>
              <a:t>Context 비교 시연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351008" y="2286000"/>
            <a:ext cx="1554480" cy="36576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488168" y="24688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B0B0B0"/>
                </a:solidFill>
                <a:latin typeface="Helvetica"/>
              </a:rPr>
              <a:t>Day 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88168" y="27889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B0B0B0"/>
                </a:solidFill>
                <a:latin typeface="맑은 고딕"/>
              </a:rPr>
              <a:t>토 23:59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0488168" y="3154680"/>
            <a:ext cx="1280160" cy="0"/>
          </a:xfrm>
          <a:prstGeom prst="line">
            <a:avLst/>
          </a:prstGeom>
          <a:ln w="635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0488168" y="3337560"/>
            <a:ext cx="12801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</a:rPr>
              <a:t>Q8 + 제출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88168" y="4846320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B0B0B0"/>
                </a:solidFill>
                <a:latin typeface="맑은 고딕"/>
              </a:rPr>
              <a:t>★ 보스 + 단톡방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6126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6B6B6B"/>
                </a:solidFill>
                <a:latin typeface="맑은 고딕"/>
              </a:rPr>
              <a:t>유연성 — 일정은 가이드일 뿐. 막히면 다음 날로 연기, 빠르면 당겨서 진행.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0A0A0A"/>
                </a:solidFill>
                <a:latin typeface="Helvetica"/>
              </a:rPr>
              <a:t>PRIME.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6B6B"/>
                </a:solidFill>
                <a:latin typeface="Helvetica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6B6B6B"/>
                </a:solidFill>
                <a:latin typeface="Helvetica"/>
              </a:rPr>
              <a:t>15 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>
                <a:solidFill>
                  <a:srgbClr val="0A0A0A"/>
                </a:solidFill>
                <a:latin typeface="맑은 고딕"/>
              </a:rPr>
              <a:t>제출물 점검표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508760"/>
            <a:ext cx="11274552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40080" y="1828800"/>
            <a:ext cx="11091672" cy="4572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4767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39" y="194767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194767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필수 제출물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194767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창의성/보너스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194767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286000"/>
            <a:ext cx="11091672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3774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6B6B6B"/>
                </a:solidFill>
                <a:latin typeface="Helvetica"/>
              </a:rPr>
              <a:t>Q1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3774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A0A0A"/>
                </a:solidFill>
                <a:latin typeface="Helvetica"/>
              </a:rPr>
              <a:t>PRIME / Notes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3774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F1F1F"/>
                </a:solidFill>
                <a:latin typeface="맑은 고딕"/>
              </a:rPr>
              <a:t>대화 SS×3 + 한줄설명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23774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6B6B6B"/>
                </a:solidFill>
                <a:latin typeface="맑은 고딕"/>
              </a:rPr>
              <a:t>반복 활용 시나리오 1개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23774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0A0A0A"/>
                </a:solidFill>
                <a:latin typeface="Helvetica"/>
              </a:rPr>
              <a:t>25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697480"/>
            <a:ext cx="11091672" cy="41148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7889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6B6B6B"/>
                </a:solidFill>
                <a:latin typeface="Helvetica"/>
              </a:rPr>
              <a:t>Q2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27889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A0A0A"/>
                </a:solidFill>
                <a:latin typeface="Helvetica"/>
              </a:rPr>
              <a:t>PRIME / Radar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27889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F1F1F"/>
                </a:solidFill>
                <a:latin typeface="맑은 고딕"/>
              </a:rPr>
              <a:t>탐색 SS×3 + md 파일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27889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6B6B6B"/>
                </a:solidFill>
                <a:latin typeface="맑은 고딕"/>
              </a:rPr>
              <a:t>노션 자동 업로드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27889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0A0A0A"/>
                </a:solidFill>
                <a:latin typeface="Helvetica"/>
              </a:rPr>
              <a:t>25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108960"/>
            <a:ext cx="11091672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2004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6B6B6B"/>
                </a:solidFill>
                <a:latin typeface="Helvetica"/>
              </a:rPr>
              <a:t>Q3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32004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A0A0A"/>
                </a:solidFill>
                <a:latin typeface="Helvetica"/>
              </a:rPr>
              <a:t>PRIME / Spend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32004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F1F1F"/>
                </a:solidFill>
                <a:latin typeface="맑은 고딕"/>
              </a:rPr>
              <a:t>GitHub + 동작 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32004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6B6B6B"/>
                </a:solidFill>
                <a:latin typeface="맑은 고딕"/>
              </a:rPr>
              <a:t>월별 차트 / 예산 알림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32004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0A0A0A"/>
                </a:solidFill>
                <a:latin typeface="Helvetica"/>
              </a:rPr>
              <a:t>25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520440"/>
            <a:ext cx="11091672" cy="41148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3611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6B6B6B"/>
                </a:solidFill>
                <a:latin typeface="Helvetica"/>
              </a:rPr>
              <a:t>Q4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36118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A0A0A"/>
                </a:solidFill>
                <a:latin typeface="Helvetica"/>
              </a:rPr>
              <a:t>PRIME / Insight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0440" y="36118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F1F1F"/>
                </a:solidFill>
                <a:latin typeface="맑은 고딕"/>
              </a:rPr>
              <a:t>조회·분석·조언 SS 각 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36118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6B6B6B"/>
                </a:solidFill>
                <a:latin typeface="맑은 고딕"/>
              </a:rPr>
              <a:t>월간 리포트 / 등급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36118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0A0A0A"/>
                </a:solidFill>
                <a:latin typeface="Helvetica"/>
              </a:rPr>
              <a:t>25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3931920"/>
            <a:ext cx="11091672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4023359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6B6B6B"/>
                </a:solidFill>
                <a:latin typeface="Helvetica"/>
              </a:rPr>
              <a:t>Q5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34440" y="4023359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A0A0A"/>
                </a:solidFill>
                <a:latin typeface="Helvetica"/>
              </a:rPr>
              <a:t>PRIME / Circle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20440" y="4023359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F1F1F"/>
                </a:solidFill>
                <a:latin typeface="맑은 고딕"/>
              </a:rPr>
              <a:t>배포 URL + CRUD 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9640" y="4023359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6B6B6B"/>
                </a:solidFill>
                <a:latin typeface="맑은 고딕"/>
              </a:rPr>
              <a:t>★ 타인 1명 가입 인증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01400" y="4023359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0A0A0A"/>
                </a:solidFill>
                <a:latin typeface="Helvetica"/>
              </a:rPr>
              <a:t>25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4343400"/>
            <a:ext cx="11091672" cy="41148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44348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6B6B6B"/>
                </a:solidFill>
                <a:latin typeface="Helvetica"/>
              </a:rPr>
              <a:t>Q6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34440" y="44348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A0A0A"/>
                </a:solidFill>
                <a:latin typeface="Helvetica"/>
              </a:rPr>
              <a:t>PRIME / Taste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20440" y="44348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F1F1F"/>
                </a:solidFill>
                <a:latin typeface="맑은 고딕"/>
              </a:rPr>
              <a:t>배포 URL + 장바구니 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9640" y="44348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6B6B6B"/>
                </a:solidFill>
                <a:latin typeface="맑은 고딕"/>
              </a:rPr>
              <a:t>쇼핑몰 컨셉 + 상품 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01400" y="44348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0A0A0A"/>
                </a:solidFill>
                <a:latin typeface="Helvetica"/>
              </a:rPr>
              <a:t>25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4754880"/>
            <a:ext cx="11091672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" y="48463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6B6B6B"/>
                </a:solidFill>
                <a:latin typeface="Helvetica"/>
              </a:rPr>
              <a:t>Q7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34440" y="48463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A0A0A"/>
                </a:solidFill>
                <a:latin typeface="Helvetica"/>
              </a:rPr>
              <a:t>PRIME / Self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20440" y="48463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F1F1F"/>
                </a:solidFill>
                <a:latin typeface="맑은 고딕"/>
              </a:rPr>
              <a:t>Before/After SS×2 + .md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49640" y="4846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6B6B6B"/>
                </a:solidFill>
                <a:latin typeface="맑은 고딕"/>
              </a:rPr>
              <a:t>맞춤형 답변 사례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201400" y="48463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0A0A0A"/>
                </a:solidFill>
                <a:latin typeface="Helvetica"/>
              </a:rPr>
              <a:t>25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" y="5166360"/>
            <a:ext cx="11091672" cy="41148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7240" y="5257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6B6B6B"/>
                </a:solidFill>
                <a:latin typeface="Helvetica"/>
              </a:rPr>
              <a:t>Q8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34440" y="52578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A0A0A"/>
                </a:solidFill>
                <a:latin typeface="Helvetica"/>
              </a:rPr>
              <a:t>PRIME / Day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20440" y="52578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F1F1F"/>
                </a:solidFill>
                <a:latin typeface="맑은 고딕"/>
              </a:rPr>
              <a:t>배포 URL + 대시보드 SS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49640" y="5257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6B6B6B"/>
                </a:solidFill>
                <a:latin typeface="맑은 고딕"/>
              </a:rPr>
              <a:t>AI 브리핑 품질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201400" y="5257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0A0A0A"/>
                </a:solidFill>
                <a:latin typeface="Helvetica"/>
              </a:rPr>
              <a:t>25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" y="5577840"/>
            <a:ext cx="11091672" cy="4572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77240" y="56967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TOTAL — 올클리어 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15600" y="569671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Helvetica"/>
              </a:rPr>
              <a:t>200 pt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0A0A0A"/>
                </a:solidFill>
                <a:latin typeface="Helvetica"/>
              </a:rPr>
              <a:t>PRIME.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6B6B"/>
                </a:solidFill>
                <a:latin typeface="Helvetica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