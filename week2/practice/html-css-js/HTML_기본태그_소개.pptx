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457700"/>
          </a:xfrm>
          <a:prstGeom prst="rect">
            <a:avLst/>
          </a:prstGeom>
          <a:solidFill>
            <a:srgbClr val="0532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57700"/>
            <a:ext cx="12188952" cy="2400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HTML 기본 태그 5가지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371600" y="3200400"/>
            <a:ext cx="68580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ACF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웹 페이지의 기본 구조를 만드는 핵심 태그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47548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D00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4754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2주차 학습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25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2026년 3월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0532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HTML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CONTENTS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0" y="7315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13186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0" y="1508760"/>
            <a:ext cx="457200" cy="0"/>
          </a:xfrm>
          <a:prstGeom prst="line">
            <a:avLst/>
          </a:prstGeom>
          <a:noFill/>
          <a:ln w="25400">
            <a:solidFill>
              <a:srgbClr val="1131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1005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제목 태그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0" y="18288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13186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0" y="2606040"/>
            <a:ext cx="457200" cy="0"/>
          </a:xfrm>
          <a:prstGeom prst="line">
            <a:avLst/>
          </a:prstGeom>
          <a:noFill/>
          <a:ln w="25400">
            <a:solidFill>
              <a:srgbClr val="1131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문단 태그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0" y="29260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13186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486400" y="3703320"/>
            <a:ext cx="457200" cy="0"/>
          </a:xfrm>
          <a:prstGeom prst="line">
            <a:avLst/>
          </a:prstGeom>
          <a:noFill/>
          <a:ln w="25400">
            <a:solidFill>
              <a:srgbClr val="1131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3200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링크 태그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0" y="40233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13186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5486400" y="4800600"/>
            <a:ext cx="457200" cy="0"/>
          </a:xfrm>
          <a:prstGeom prst="line">
            <a:avLst/>
          </a:prstGeom>
          <a:noFill/>
          <a:ln w="25400">
            <a:solidFill>
              <a:srgbClr val="1131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4297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이미지 태그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0" y="51206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13186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486400" y="5897880"/>
            <a:ext cx="457200" cy="0"/>
          </a:xfrm>
          <a:prstGeom prst="line">
            <a:avLst/>
          </a:prstGeom>
          <a:noFill/>
          <a:ln w="25400">
            <a:solidFill>
              <a:srgbClr val="1131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 / &lt;li&gt;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5394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목록 태그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32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502920"/>
          </a:xfrm>
          <a:prstGeom prst="rect">
            <a:avLst/>
          </a:prstGeom>
          <a:solidFill>
            <a:srgbClr val="11318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" y="45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TAG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45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HTML 기본 태그 학습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64592" cy="164592"/>
          </a:xfrm>
          <a:prstGeom prst="ellipse">
            <a:avLst/>
          </a:prstGeom>
          <a:solidFill>
            <a:srgbClr val="0083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&lt;h1&gt; ~ &lt;h6&gt; 제목 태그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40A2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"페이지의 제목과 구조를 정의하는 핵심 태그"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01168" cy="201168"/>
          </a:xfrm>
          <a:prstGeom prst="ellipse">
            <a:avLst/>
          </a:prstGeom>
          <a:solidFill>
            <a:srgbClr val="0083F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85623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859536" cy="292608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2880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사용법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1762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25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제목의 중요도에 따라 h1(가장 큰) ~ h6(가장 작은)을 사용합니다.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029200" cy="2011680"/>
          </a:xfrm>
          <a:prstGeom prst="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&lt;h1&gt;가장 큰 제목&lt;/h1&gt;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&lt;h2&gt;두 번째 제목&lt;/h2&gt;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&lt;h3&gt;세 번째 제목&lt;/h3&gt;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2560320"/>
            <a:ext cx="5760720" cy="2011680"/>
          </a:xfrm>
          <a:prstGeom prst="rect">
            <a:avLst>
              <a:gd name="adj" fmla="val 4545"/>
            </a:avLst>
          </a:prstGeom>
          <a:solidFill>
            <a:srgbClr val="EBF0F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CA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▶ 결과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3017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가장 큰 제목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26480" y="3474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두 번째 제목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26480" y="3840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세 번째 제목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F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h1은 페이지당 하나만 사용하는 것이 SEO에 유리합니다.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F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검색엔진이 제목 태그를 통해 페이지 구조를 파악합니다.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8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- 1 -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32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502920"/>
          </a:xfrm>
          <a:prstGeom prst="rect">
            <a:avLst/>
          </a:prstGeom>
          <a:solidFill>
            <a:srgbClr val="11318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" y="45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TAG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45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HTML 기본 태그 학습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64592" cy="164592"/>
          </a:xfrm>
          <a:prstGeom prst="ellipse">
            <a:avLst/>
          </a:prstGeom>
          <a:solidFill>
            <a:srgbClr val="0083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&lt;p&gt; 문단 태그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40A2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"본문 텍스트를 담는 가장 기본적인 태그"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01168" cy="201168"/>
          </a:xfrm>
          <a:prstGeom prst="ellipse">
            <a:avLst/>
          </a:prstGeom>
          <a:solidFill>
            <a:srgbClr val="0083F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85623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859536" cy="292608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2880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사용법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1762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25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문단 단위로 텍스트를 묶어 줍니다. 자동으로 위아래 여백이 생깁니다.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029200" cy="182880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&lt;p&gt;첫 번째 문단입니다.&lt;/p&gt;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&lt;p&gt;두 번째 문단입니다.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줄바꿈은 무시됩니다.&lt;/p&gt;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2560320"/>
            <a:ext cx="5760720" cy="1828800"/>
          </a:xfrm>
          <a:prstGeom prst="rect">
            <a:avLst>
              <a:gd name="adj" fmla="val 5000"/>
            </a:avLst>
          </a:prstGeom>
          <a:solidFill>
            <a:srgbClr val="EBF0F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CA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▶ 결과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첫 번째 문단입니다.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3566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두 번째 문단입니다. 줄바꿈은 무시됩니다.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F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HTML에서 줄바꿈은 &lt;br&gt; 태그를 사용해야 합니다.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F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&lt;p&gt; 태그는 블록 요소로, 자동으로 줄바꿈됩니다.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8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- 2 -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32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502920"/>
          </a:xfrm>
          <a:prstGeom prst="rect">
            <a:avLst/>
          </a:prstGeom>
          <a:solidFill>
            <a:srgbClr val="11318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" y="45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TAG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45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HTML 기본 태그 학습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64592" cy="164592"/>
          </a:xfrm>
          <a:prstGeom prst="ellipse">
            <a:avLst/>
          </a:prstGeom>
          <a:solidFill>
            <a:srgbClr val="0083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&lt;a&gt; 링크 태그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40A2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"다른 페이지나 사이트로 이동하는 하이퍼링크"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01168" cy="201168"/>
          </a:xfrm>
          <a:prstGeom prst="ellipse">
            <a:avLst/>
          </a:prstGeom>
          <a:solidFill>
            <a:srgbClr val="0083F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85623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859536" cy="292608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2880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사용법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1762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25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href 속성에 이동할 주소를 지정합니다.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029200" cy="2560320"/>
          </a:xfrm>
          <a:prstGeom prst="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href="https://www.naver.com"&gt;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네이버로 이동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href="page2.html"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target="_blank"&gt;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새 탭에서 열기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2560320"/>
            <a:ext cx="5760720" cy="2560320"/>
          </a:xfrm>
          <a:prstGeom prst="rect">
            <a:avLst>
              <a:gd name="adj" fmla="val 3571"/>
            </a:avLst>
          </a:prstGeom>
          <a:solidFill>
            <a:srgbClr val="EBF0F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CA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▶ 주요 속성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310896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113186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이동할 URL 주소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7490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113186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target="_blank"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새 탭에서 열기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38912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113186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target="_self"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104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현재 탭에서 열기 (기본값)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F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외부 링크에는 보안을 위해 rel="noopener"를 함께 사용합니다.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8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- 3 -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32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502920"/>
          </a:xfrm>
          <a:prstGeom prst="rect">
            <a:avLst/>
          </a:prstGeom>
          <a:solidFill>
            <a:srgbClr val="11318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" y="45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TAG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45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HTML 기본 태그 학습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64592" cy="164592"/>
          </a:xfrm>
          <a:prstGeom prst="ellipse">
            <a:avLst/>
          </a:prstGeom>
          <a:solidFill>
            <a:srgbClr val="0083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&lt;img&gt; 이미지 태그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40A2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"웹 페이지에 이미지를 삽입하는 태그"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01168" cy="201168"/>
          </a:xfrm>
          <a:prstGeom prst="ellipse">
            <a:avLst/>
          </a:prstGeom>
          <a:solidFill>
            <a:srgbClr val="0083F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85623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859536" cy="292608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2880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사용법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1762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25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닫는 태그가 없는 셀프 클로징 태그입니다.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029200" cy="2011680"/>
          </a:xfrm>
          <a:prstGeom prst="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src="photo.jpg"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alt="사진 설명"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width="300"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height="200"&gt;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2560320"/>
            <a:ext cx="5760720" cy="2011680"/>
          </a:xfrm>
          <a:prstGeom prst="rect">
            <a:avLst>
              <a:gd name="adj" fmla="val 4545"/>
            </a:avLst>
          </a:prstGeom>
          <a:solidFill>
            <a:srgbClr val="EBF0F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CA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▶ 주요 속성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310896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113186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이미지 파일 경로 (필수)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56616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113186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대체 텍스트 — 접근성 (필수)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02336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113186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 / height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104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이미지 크기 지정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0F37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⚠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alt 속성은 시각장애인 스크린리더와 SEO에 매우 중요합니다!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F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&lt;img&gt;는 닫는 태그 없이 단독으로 사용하는 빈 요소(void element)입니다.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8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- 4 -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32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502920"/>
          </a:xfrm>
          <a:prstGeom prst="rect">
            <a:avLst/>
          </a:prstGeom>
          <a:solidFill>
            <a:srgbClr val="11318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" y="45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TAG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45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HTML 기본 태그 학습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64592" cy="164592"/>
          </a:xfrm>
          <a:prstGeom prst="ellipse">
            <a:avLst/>
          </a:prstGeom>
          <a:solidFill>
            <a:srgbClr val="0083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&lt;ul&gt; / &lt;li&gt; 목록 태그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40A2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"항목을 나열할 때 사용하는 목록 태그"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01168" cy="201168"/>
          </a:xfrm>
          <a:prstGeom prst="ellipse">
            <a:avLst/>
          </a:prstGeom>
          <a:solidFill>
            <a:srgbClr val="0083F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85623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3657600" cy="292608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28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순서 없는 목록 vs 순서 있는 목록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5303520" cy="2103120"/>
          </a:xfrm>
          <a:prstGeom prst="rect">
            <a:avLst>
              <a:gd name="adj" fmla="val 4348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146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순서 없는 목록 --&gt;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&lt;li&gt;항목 1&lt;/li&gt;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&lt;li&gt;항목 2&lt;/li&gt;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&lt;li&gt;항목 3&lt;/li&gt;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377440"/>
            <a:ext cx="5303520" cy="2103120"/>
          </a:xfrm>
          <a:prstGeom prst="rect">
            <a:avLst>
              <a:gd name="adj" fmla="val 4348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5146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순서 있는 목록 --&gt;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&lt;li&gt;첫 번째&lt;/li&gt;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&lt;li&gt;두 번째&lt;/li&gt;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&lt;li&gt;세 번째&lt;/li&gt;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&lt;/ol&gt;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5303520" cy="1371600"/>
          </a:xfrm>
          <a:prstGeom prst="rect">
            <a:avLst>
              <a:gd name="adj" fmla="val 6667"/>
            </a:avLst>
          </a:prstGeom>
          <a:solidFill>
            <a:srgbClr val="EBF0F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8463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• 항목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• 항목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• 항목 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754880"/>
            <a:ext cx="5303520" cy="1371600"/>
          </a:xfrm>
          <a:prstGeom prst="rect">
            <a:avLst>
              <a:gd name="adj" fmla="val 6667"/>
            </a:avLst>
          </a:prstGeom>
          <a:solidFill>
            <a:srgbClr val="EBF0F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8463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1. 첫 번째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2. 두 번째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3. 세 번째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8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- 5 -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32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502920"/>
          </a:xfrm>
          <a:prstGeom prst="rect">
            <a:avLst/>
          </a:prstGeom>
          <a:solidFill>
            <a:srgbClr val="11318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" y="45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정리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45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HTML 기본 태그 학습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64592" cy="164592"/>
          </a:xfrm>
          <a:prstGeom prst="ellipse">
            <a:avLst/>
          </a:prstGeom>
          <a:solidFill>
            <a:srgbClr val="0083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HTML 기본 태그 요약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40A2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"5가지 태그만 알면 기본적인 웹 페이지를 만들 수 있습니다"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6217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태그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1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용도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1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예시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18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페이퍼로지 5 Medium" pitchFamily="34" charset="0"/>
                          <a:ea typeface="페이퍼로지 5 Medium" pitchFamily="34" charset="-122"/>
                          <a:cs typeface="페이퍼로지 5 Medium" pitchFamily="34" charset="-120"/>
                        </a:rPr>
                        <a:t>&lt;h1&gt;~&lt;h6&gt;</a:t>
                      </a:r>
                      <a:endParaRPr lang="en-US" sz="1100" dirty="0">
                        <a:latin typeface="페이퍼로지 5 Medium" charset="0"/>
                        <a:ea typeface="페이퍼로지 5 Medium" charset="0"/>
                        <a:cs typeface="페이퍼로지 5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페이퍼로지 5 Medium" pitchFamily="34" charset="0"/>
                          <a:ea typeface="페이퍼로지 5 Medium" pitchFamily="34" charset="-122"/>
                          <a:cs typeface="페이퍼로지 5 Medium" pitchFamily="34" charset="-120"/>
                        </a:rPr>
                        <a:t>제목 (Heading)</a:t>
                      </a:r>
                      <a:endParaRPr lang="en-US" sz="1100" dirty="0">
                        <a:latin typeface="페이퍼로지 5 Medium" charset="0"/>
                        <a:ea typeface="페이퍼로지 5 Medium" charset="0"/>
                        <a:cs typeface="페이퍼로지 5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페이퍼로지 5 Medium" pitchFamily="34" charset="0"/>
                          <a:ea typeface="페이퍼로지 5 Medium" pitchFamily="34" charset="-122"/>
                          <a:cs typeface="페이퍼로지 5 Medium" pitchFamily="34" charset="-120"/>
                        </a:rPr>
                        <a:t>&lt;h1&gt;제목&lt;/h1&gt;</a:t>
                      </a:r>
                      <a:endParaRPr lang="en-US" sz="1100" dirty="0">
                        <a:latin typeface="페이퍼로지 5 Medium" charset="0"/>
                        <a:ea typeface="페이퍼로지 5 Medium" charset="0"/>
                        <a:cs typeface="페이퍼로지 5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페이퍼로지 5 Medium" pitchFamily="34" charset="0"/>
                          <a:ea typeface="페이퍼로지 5 Medium" pitchFamily="34" charset="-122"/>
                          <a:cs typeface="페이퍼로지 5 Medium" pitchFamily="34" charset="-120"/>
                        </a:rPr>
                        <a:t>&lt;p&gt;</a:t>
                      </a:r>
                      <a:endParaRPr lang="en-US" sz="1100" dirty="0">
                        <a:latin typeface="페이퍼로지 5 Medium" charset="0"/>
                        <a:ea typeface="페이퍼로지 5 Medium" charset="0"/>
                        <a:cs typeface="페이퍼로지 5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페이퍼로지 5 Medium" pitchFamily="34" charset="0"/>
                          <a:ea typeface="페이퍼로지 5 Medium" pitchFamily="34" charset="-122"/>
                          <a:cs typeface="페이퍼로지 5 Medium" pitchFamily="34" charset="-120"/>
                        </a:rPr>
                        <a:t>문단 (Paragraph)</a:t>
                      </a:r>
                      <a:endParaRPr lang="en-US" sz="1100" dirty="0">
                        <a:latin typeface="페이퍼로지 5 Medium" charset="0"/>
                        <a:ea typeface="페이퍼로지 5 Medium" charset="0"/>
                        <a:cs typeface="페이퍼로지 5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페이퍼로지 5 Medium" pitchFamily="34" charset="0"/>
                          <a:ea typeface="페이퍼로지 5 Medium" pitchFamily="34" charset="-122"/>
                          <a:cs typeface="페이퍼로지 5 Medium" pitchFamily="34" charset="-120"/>
                        </a:rPr>
                        <a:t>&lt;p&gt;본문 내용&lt;/p&gt;</a:t>
                      </a:r>
                      <a:endParaRPr lang="en-US" sz="1100" dirty="0">
                        <a:latin typeface="페이퍼로지 5 Medium" charset="0"/>
                        <a:ea typeface="페이퍼로지 5 Medium" charset="0"/>
                        <a:cs typeface="페이퍼로지 5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페이퍼로지 5 Medium" pitchFamily="34" charset="0"/>
                          <a:ea typeface="페이퍼로지 5 Medium" pitchFamily="34" charset="-122"/>
                          <a:cs typeface="페이퍼로지 5 Medium" pitchFamily="34" charset="-120"/>
                        </a:rPr>
                        <a:t>&lt;a&gt;</a:t>
                      </a:r>
                      <a:endParaRPr lang="en-US" sz="1100" dirty="0">
                        <a:latin typeface="페이퍼로지 5 Medium" charset="0"/>
                        <a:ea typeface="페이퍼로지 5 Medium" charset="0"/>
                        <a:cs typeface="페이퍼로지 5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페이퍼로지 5 Medium" pitchFamily="34" charset="0"/>
                          <a:ea typeface="페이퍼로지 5 Medium" pitchFamily="34" charset="-122"/>
                          <a:cs typeface="페이퍼로지 5 Medium" pitchFamily="34" charset="-120"/>
                        </a:rPr>
                        <a:t>링크 (Anchor)</a:t>
                      </a:r>
                      <a:endParaRPr lang="en-US" sz="1100" dirty="0">
                        <a:latin typeface="페이퍼로지 5 Medium" charset="0"/>
                        <a:ea typeface="페이퍼로지 5 Medium" charset="0"/>
                        <a:cs typeface="페이퍼로지 5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페이퍼로지 5 Medium" pitchFamily="34" charset="0"/>
                          <a:ea typeface="페이퍼로지 5 Medium" pitchFamily="34" charset="-122"/>
                          <a:cs typeface="페이퍼로지 5 Medium" pitchFamily="34" charset="-120"/>
                        </a:rPr>
                        <a:t>&lt;a href="url"&gt;링크&lt;/a&gt;</a:t>
                      </a:r>
                      <a:endParaRPr lang="en-US" sz="1100" dirty="0">
                        <a:latin typeface="페이퍼로지 5 Medium" charset="0"/>
                        <a:ea typeface="페이퍼로지 5 Medium" charset="0"/>
                        <a:cs typeface="페이퍼로지 5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페이퍼로지 5 Medium" pitchFamily="34" charset="0"/>
                          <a:ea typeface="페이퍼로지 5 Medium" pitchFamily="34" charset="-122"/>
                          <a:cs typeface="페이퍼로지 5 Medium" pitchFamily="34" charset="-120"/>
                        </a:rPr>
                        <a:t>&lt;img&gt;</a:t>
                      </a:r>
                      <a:endParaRPr lang="en-US" sz="1100" dirty="0">
                        <a:latin typeface="페이퍼로지 5 Medium" charset="0"/>
                        <a:ea typeface="페이퍼로지 5 Medium" charset="0"/>
                        <a:cs typeface="페이퍼로지 5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페이퍼로지 5 Medium" pitchFamily="34" charset="0"/>
                          <a:ea typeface="페이퍼로지 5 Medium" pitchFamily="34" charset="-122"/>
                          <a:cs typeface="페이퍼로지 5 Medium" pitchFamily="34" charset="-120"/>
                        </a:rPr>
                        <a:t>이미지 (Image)</a:t>
                      </a:r>
                      <a:endParaRPr lang="en-US" sz="1100" dirty="0">
                        <a:latin typeface="페이퍼로지 5 Medium" charset="0"/>
                        <a:ea typeface="페이퍼로지 5 Medium" charset="0"/>
                        <a:cs typeface="페이퍼로지 5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페이퍼로지 5 Medium" pitchFamily="34" charset="0"/>
                          <a:ea typeface="페이퍼로지 5 Medium" pitchFamily="34" charset="-122"/>
                          <a:cs typeface="페이퍼로지 5 Medium" pitchFamily="34" charset="-120"/>
                        </a:rPr>
                        <a:t>&lt;img src="img.jpg" alt="설명"&gt;</a:t>
                      </a:r>
                      <a:endParaRPr lang="en-US" sz="1100" dirty="0">
                        <a:latin typeface="페이퍼로지 5 Medium" charset="0"/>
                        <a:ea typeface="페이퍼로지 5 Medium" charset="0"/>
                        <a:cs typeface="페이퍼로지 5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페이퍼로지 5 Medium" pitchFamily="34" charset="0"/>
                          <a:ea typeface="페이퍼로지 5 Medium" pitchFamily="34" charset="-122"/>
                          <a:cs typeface="페이퍼로지 5 Medium" pitchFamily="34" charset="-120"/>
                        </a:rPr>
                        <a:t>&lt;ul&gt; / &lt;li&gt;</a:t>
                      </a:r>
                      <a:endParaRPr lang="en-US" sz="1100" dirty="0">
                        <a:latin typeface="페이퍼로지 5 Medium" charset="0"/>
                        <a:ea typeface="페이퍼로지 5 Medium" charset="0"/>
                        <a:cs typeface="페이퍼로지 5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페이퍼로지 5 Medium" pitchFamily="34" charset="0"/>
                          <a:ea typeface="페이퍼로지 5 Medium" pitchFamily="34" charset="-122"/>
                          <a:cs typeface="페이퍼로지 5 Medium" pitchFamily="34" charset="-120"/>
                        </a:rPr>
                        <a:t>목록 (List)</a:t>
                      </a:r>
                      <a:endParaRPr lang="en-US" sz="1100" dirty="0">
                        <a:latin typeface="페이퍼로지 5 Medium" charset="0"/>
                        <a:ea typeface="페이퍼로지 5 Medium" charset="0"/>
                        <a:cs typeface="페이퍼로지 5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페이퍼로지 5 Medium" pitchFamily="34" charset="0"/>
                          <a:ea typeface="페이퍼로지 5 Medium" pitchFamily="34" charset="-122"/>
                          <a:cs typeface="페이퍼로지 5 Medium" pitchFamily="34" charset="-120"/>
                        </a:rPr>
                        <a:t>&lt;ul&gt;&lt;li&gt;항목&lt;/li&gt;&lt;/ul&gt;</a:t>
                      </a:r>
                      <a:endParaRPr lang="en-US" sz="1100" dirty="0">
                        <a:latin typeface="페이퍼로지 5 Medium" charset="0"/>
                        <a:ea typeface="페이퍼로지 5 Medium" charset="0"/>
                        <a:cs typeface="페이퍼로지 5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3F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💡 TIP: </a:t>
            </a:r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이 5가지 태그로 시작해서, 점차 새로운 태그를 배워나가세요!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8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- 6 -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457700"/>
          </a:xfrm>
          <a:prstGeom prst="rect">
            <a:avLst/>
          </a:prstGeom>
          <a:solidFill>
            <a:srgbClr val="0532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57700"/>
            <a:ext cx="12188952" cy="2400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ACF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HTML 기본 태그 학습을 마칩니다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2026-03-28T06:56:38Z</dcterms:created>
  <dcterms:modified xsi:type="dcterms:W3CDTF">2026-03-28T06:56:38Z</dcterms:modified>
</cp:coreProperties>
</file>